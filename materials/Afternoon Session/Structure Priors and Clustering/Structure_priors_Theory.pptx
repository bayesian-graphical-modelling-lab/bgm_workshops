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671" r:id="rId2"/>
    <p:sldId id="660" r:id="rId3"/>
    <p:sldId id="689" r:id="rId4"/>
    <p:sldId id="691" r:id="rId5"/>
    <p:sldId id="849" r:id="rId6"/>
    <p:sldId id="850" r:id="rId7"/>
    <p:sldId id="873" r:id="rId8"/>
    <p:sldId id="874" r:id="rId9"/>
    <p:sldId id="851" r:id="rId10"/>
    <p:sldId id="852" r:id="rId11"/>
    <p:sldId id="853" r:id="rId12"/>
    <p:sldId id="854" r:id="rId13"/>
    <p:sldId id="855" r:id="rId14"/>
    <p:sldId id="856" r:id="rId15"/>
    <p:sldId id="857" r:id="rId16"/>
    <p:sldId id="858" r:id="rId17"/>
    <p:sldId id="859" r:id="rId18"/>
    <p:sldId id="860" r:id="rId19"/>
    <p:sldId id="861" r:id="rId20"/>
    <p:sldId id="862" r:id="rId21"/>
    <p:sldId id="863" r:id="rId22"/>
    <p:sldId id="864" r:id="rId23"/>
    <p:sldId id="865" r:id="rId24"/>
    <p:sldId id="866" r:id="rId25"/>
    <p:sldId id="867" r:id="rId26"/>
    <p:sldId id="868" r:id="rId27"/>
    <p:sldId id="871" r:id="rId28"/>
    <p:sldId id="872" r:id="rId29"/>
    <p:sldId id="875" r:id="rId30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7BB6B"/>
    <a:srgbClr val="414A60"/>
    <a:srgbClr val="5885A2"/>
    <a:srgbClr val="991100"/>
    <a:srgbClr val="6397B1"/>
    <a:srgbClr val="1F3864"/>
    <a:srgbClr val="F0AD0F"/>
    <a:srgbClr val="150B0A"/>
    <a:srgbClr val="B960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9B6CC8-13C2-E243-901E-2C58BE464862}" v="5" dt="2026-06-26T08:28:00.2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96"/>
    <p:restoredTop sz="94598"/>
  </p:normalViewPr>
  <p:slideViewPr>
    <p:cSldViewPr snapToGrid="0">
      <p:cViewPr varScale="1">
        <p:scale>
          <a:sx n="101" d="100"/>
          <a:sy n="101" d="100"/>
        </p:scale>
        <p:origin x="232" y="568"/>
      </p:cViewPr>
      <p:guideLst/>
    </p:cSldViewPr>
  </p:slideViewPr>
  <p:outlineViewPr>
    <p:cViewPr>
      <p:scale>
        <a:sx n="33" d="100"/>
        <a:sy n="33" d="100"/>
      </p:scale>
      <p:origin x="0" y="-772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ola Sekulovski" userId="2345901e-73d2-462d-8b82-8af2d9a2a087" providerId="ADAL" clId="{64B89F19-5709-53FC-B79D-01CD083CA518}"/>
    <pc:docChg chg="custSel addSld delSld modSld">
      <pc:chgData name="Nikola Sekulovski" userId="2345901e-73d2-462d-8b82-8af2d9a2a087" providerId="ADAL" clId="{64B89F19-5709-53FC-B79D-01CD083CA518}" dt="2026-06-26T08:29:14.745" v="173" actId="20577"/>
      <pc:docMkLst>
        <pc:docMk/>
      </pc:docMkLst>
      <pc:sldChg chg="modSp mod">
        <pc:chgData name="Nikola Sekulovski" userId="2345901e-73d2-462d-8b82-8af2d9a2a087" providerId="ADAL" clId="{64B89F19-5709-53FC-B79D-01CD083CA518}" dt="2026-06-22T11:47:34.517" v="24" actId="20577"/>
        <pc:sldMkLst>
          <pc:docMk/>
          <pc:sldMk cId="1131232699" sldId="671"/>
        </pc:sldMkLst>
        <pc:spChg chg="mod">
          <ac:chgData name="Nikola Sekulovski" userId="2345901e-73d2-462d-8b82-8af2d9a2a087" providerId="ADAL" clId="{64B89F19-5709-53FC-B79D-01CD083CA518}" dt="2026-06-22T11:47:34.517" v="24" actId="20577"/>
          <ac:spMkLst>
            <pc:docMk/>
            <pc:sldMk cId="1131232699" sldId="671"/>
            <ac:spMk id="21" creationId="{80FFF06B-4D59-014B-666B-09D0E79EAC9C}"/>
          </ac:spMkLst>
        </pc:spChg>
      </pc:sldChg>
      <pc:sldChg chg="modSp mod">
        <pc:chgData name="Nikola Sekulovski" userId="2345901e-73d2-462d-8b82-8af2d9a2a087" providerId="ADAL" clId="{64B89F19-5709-53FC-B79D-01CD083CA518}" dt="2026-06-22T11:51:09.605" v="27" actId="14100"/>
        <pc:sldMkLst>
          <pc:docMk/>
          <pc:sldMk cId="337707640" sldId="689"/>
        </pc:sldMkLst>
        <pc:spChg chg="mod">
          <ac:chgData name="Nikola Sekulovski" userId="2345901e-73d2-462d-8b82-8af2d9a2a087" providerId="ADAL" clId="{64B89F19-5709-53FC-B79D-01CD083CA518}" dt="2026-06-22T11:51:09.605" v="27" actId="14100"/>
          <ac:spMkLst>
            <pc:docMk/>
            <pc:sldMk cId="337707640" sldId="689"/>
            <ac:spMk id="6" creationId="{63502313-EDFE-567E-11AB-10E8353FB87C}"/>
          </ac:spMkLst>
        </pc:spChg>
      </pc:sldChg>
      <pc:sldChg chg="modSp mod">
        <pc:chgData name="Nikola Sekulovski" userId="2345901e-73d2-462d-8b82-8af2d9a2a087" providerId="ADAL" clId="{64B89F19-5709-53FC-B79D-01CD083CA518}" dt="2026-06-22T11:51:22.674" v="30" actId="1076"/>
        <pc:sldMkLst>
          <pc:docMk/>
          <pc:sldMk cId="3546350175" sldId="691"/>
        </pc:sldMkLst>
        <pc:spChg chg="mod">
          <ac:chgData name="Nikola Sekulovski" userId="2345901e-73d2-462d-8b82-8af2d9a2a087" providerId="ADAL" clId="{64B89F19-5709-53FC-B79D-01CD083CA518}" dt="2026-06-22T11:51:22.674" v="30" actId="1076"/>
          <ac:spMkLst>
            <pc:docMk/>
            <pc:sldMk cId="3546350175" sldId="691"/>
            <ac:spMk id="4" creationId="{9AAEBC01-3582-6A4B-98E8-93C4E9DFC7F7}"/>
          </ac:spMkLst>
        </pc:spChg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49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50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51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52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53"/>
        </pc:sldMkLst>
      </pc:sldChg>
      <pc:sldChg chg="modSp add mod">
        <pc:chgData name="Nikola Sekulovski" userId="2345901e-73d2-462d-8b82-8af2d9a2a087" providerId="ADAL" clId="{64B89F19-5709-53FC-B79D-01CD083CA518}" dt="2026-06-26T08:26:16.602" v="71" actId="20577"/>
        <pc:sldMkLst>
          <pc:docMk/>
          <pc:sldMk cId="0" sldId="854"/>
        </pc:sldMkLst>
        <pc:spChg chg="mod">
          <ac:chgData name="Nikola Sekulovski" userId="2345901e-73d2-462d-8b82-8af2d9a2a087" providerId="ADAL" clId="{64B89F19-5709-53FC-B79D-01CD083CA518}" dt="2026-06-26T08:26:16.602" v="71" actId="20577"/>
          <ac:spMkLst>
            <pc:docMk/>
            <pc:sldMk cId="0" sldId="854"/>
            <ac:spMk id="7" creationId="{00000000-0000-0000-0000-000000000000}"/>
          </ac:spMkLst>
        </pc:spChg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55"/>
        </pc:sldMkLst>
      </pc:sldChg>
      <pc:sldChg chg="modSp add mod">
        <pc:chgData name="Nikola Sekulovski" userId="2345901e-73d2-462d-8b82-8af2d9a2a087" providerId="ADAL" clId="{64B89F19-5709-53FC-B79D-01CD083CA518}" dt="2026-06-26T08:26:32.403" v="85" actId="20577"/>
        <pc:sldMkLst>
          <pc:docMk/>
          <pc:sldMk cId="0" sldId="856"/>
        </pc:sldMkLst>
        <pc:spChg chg="mod">
          <ac:chgData name="Nikola Sekulovski" userId="2345901e-73d2-462d-8b82-8af2d9a2a087" providerId="ADAL" clId="{64B89F19-5709-53FC-B79D-01CD083CA518}" dt="2026-06-26T08:26:32.403" v="85" actId="20577"/>
          <ac:spMkLst>
            <pc:docMk/>
            <pc:sldMk cId="0" sldId="856"/>
            <ac:spMk id="7" creationId="{00000000-0000-0000-0000-000000000000}"/>
          </ac:spMkLst>
        </pc:spChg>
      </pc:sldChg>
      <pc:sldChg chg="modSp add mod">
        <pc:chgData name="Nikola Sekulovski" userId="2345901e-73d2-462d-8b82-8af2d9a2a087" providerId="ADAL" clId="{64B89F19-5709-53FC-B79D-01CD083CA518}" dt="2026-06-26T08:26:43.794" v="86" actId="20577"/>
        <pc:sldMkLst>
          <pc:docMk/>
          <pc:sldMk cId="0" sldId="857"/>
        </pc:sldMkLst>
        <pc:spChg chg="mod">
          <ac:chgData name="Nikola Sekulovski" userId="2345901e-73d2-462d-8b82-8af2d9a2a087" providerId="ADAL" clId="{64B89F19-5709-53FC-B79D-01CD083CA518}" dt="2026-06-26T08:25:13.492" v="63" actId="20577"/>
          <ac:spMkLst>
            <pc:docMk/>
            <pc:sldMk cId="0" sldId="857"/>
            <ac:spMk id="6" creationId="{8A8CFD91-B243-2D30-2072-EF47E778F559}"/>
          </ac:spMkLst>
        </pc:spChg>
        <pc:spChg chg="mod">
          <ac:chgData name="Nikola Sekulovski" userId="2345901e-73d2-462d-8b82-8af2d9a2a087" providerId="ADAL" clId="{64B89F19-5709-53FC-B79D-01CD083CA518}" dt="2026-06-26T08:26:43.794" v="86" actId="20577"/>
          <ac:spMkLst>
            <pc:docMk/>
            <pc:sldMk cId="0" sldId="857"/>
            <ac:spMk id="7" creationId="{00000000-0000-0000-0000-000000000000}"/>
          </ac:spMkLst>
        </pc:spChg>
      </pc:sldChg>
      <pc:sldChg chg="modSp add mod">
        <pc:chgData name="Nikola Sekulovski" userId="2345901e-73d2-462d-8b82-8af2d9a2a087" providerId="ADAL" clId="{64B89F19-5709-53FC-B79D-01CD083CA518}" dt="2026-06-26T08:27:13.924" v="147" actId="20577"/>
        <pc:sldMkLst>
          <pc:docMk/>
          <pc:sldMk cId="0" sldId="858"/>
        </pc:sldMkLst>
        <pc:spChg chg="mod">
          <ac:chgData name="Nikola Sekulovski" userId="2345901e-73d2-462d-8b82-8af2d9a2a087" providerId="ADAL" clId="{64B89F19-5709-53FC-B79D-01CD083CA518}" dt="2026-06-26T08:27:13.924" v="147" actId="20577"/>
          <ac:spMkLst>
            <pc:docMk/>
            <pc:sldMk cId="0" sldId="858"/>
            <ac:spMk id="6" creationId="{8A8CFD91-B243-2D30-2072-EF47E778F559}"/>
          </ac:spMkLst>
        </pc:spChg>
        <pc:spChg chg="mod">
          <ac:chgData name="Nikola Sekulovski" userId="2345901e-73d2-462d-8b82-8af2d9a2a087" providerId="ADAL" clId="{64B89F19-5709-53FC-B79D-01CD083CA518}" dt="2026-06-26T08:27:04.591" v="110" actId="20577"/>
          <ac:spMkLst>
            <pc:docMk/>
            <pc:sldMk cId="0" sldId="858"/>
            <ac:spMk id="7" creationId="{00000000-0000-0000-0000-000000000000}"/>
          </ac:spMkLst>
        </pc:spChg>
      </pc:sldChg>
      <pc:sldChg chg="addSp delSp modSp add mod">
        <pc:chgData name="Nikola Sekulovski" userId="2345901e-73d2-462d-8b82-8af2d9a2a087" providerId="ADAL" clId="{64B89F19-5709-53FC-B79D-01CD083CA518}" dt="2026-06-26T08:28:03.063" v="160"/>
        <pc:sldMkLst>
          <pc:docMk/>
          <pc:sldMk cId="0" sldId="859"/>
        </pc:sldMkLst>
        <pc:spChg chg="add del mod">
          <ac:chgData name="Nikola Sekulovski" userId="2345901e-73d2-462d-8b82-8af2d9a2a087" providerId="ADAL" clId="{64B89F19-5709-53FC-B79D-01CD083CA518}" dt="2026-06-26T08:28:03.063" v="160"/>
          <ac:spMkLst>
            <pc:docMk/>
            <pc:sldMk cId="0" sldId="859"/>
            <ac:spMk id="2" creationId="{9223E551-1ADC-FB52-06CD-23C3599CA510}"/>
          </ac:spMkLst>
        </pc:spChg>
        <pc:spChg chg="mod">
          <ac:chgData name="Nikola Sekulovski" userId="2345901e-73d2-462d-8b82-8af2d9a2a087" providerId="ADAL" clId="{64B89F19-5709-53FC-B79D-01CD083CA518}" dt="2026-06-26T08:27:31.025" v="151" actId="20577"/>
          <ac:spMkLst>
            <pc:docMk/>
            <pc:sldMk cId="0" sldId="859"/>
            <ac:spMk id="6" creationId="{8A8CFD91-B243-2D30-2072-EF47E778F559}"/>
          </ac:spMkLst>
        </pc:spChg>
        <pc:spChg chg="mod">
          <ac:chgData name="Nikola Sekulovski" userId="2345901e-73d2-462d-8b82-8af2d9a2a087" providerId="ADAL" clId="{64B89F19-5709-53FC-B79D-01CD083CA518}" dt="2026-06-26T08:27:50.058" v="156" actId="20577"/>
          <ac:spMkLst>
            <pc:docMk/>
            <pc:sldMk cId="0" sldId="859"/>
            <ac:spMk id="7" creationId="{00000000-0000-0000-0000-000000000000}"/>
          </ac:spMkLst>
        </pc:spChg>
      </pc:sldChg>
      <pc:sldChg chg="modSp add mod">
        <pc:chgData name="Nikola Sekulovski" userId="2345901e-73d2-462d-8b82-8af2d9a2a087" providerId="ADAL" clId="{64B89F19-5709-53FC-B79D-01CD083CA518}" dt="2026-06-26T08:28:12.330" v="162" actId="20577"/>
        <pc:sldMkLst>
          <pc:docMk/>
          <pc:sldMk cId="0" sldId="860"/>
        </pc:sldMkLst>
        <pc:spChg chg="mod">
          <ac:chgData name="Nikola Sekulovski" userId="2345901e-73d2-462d-8b82-8af2d9a2a087" providerId="ADAL" clId="{64B89F19-5709-53FC-B79D-01CD083CA518}" dt="2026-06-26T08:28:00.273" v="158"/>
          <ac:spMkLst>
            <pc:docMk/>
            <pc:sldMk cId="0" sldId="860"/>
            <ac:spMk id="6" creationId="{8A8CFD91-B243-2D30-2072-EF47E778F559}"/>
          </ac:spMkLst>
        </pc:spChg>
        <pc:spChg chg="mod">
          <ac:chgData name="Nikola Sekulovski" userId="2345901e-73d2-462d-8b82-8af2d9a2a087" providerId="ADAL" clId="{64B89F19-5709-53FC-B79D-01CD083CA518}" dt="2026-06-26T08:28:12.330" v="162" actId="20577"/>
          <ac:spMkLst>
            <pc:docMk/>
            <pc:sldMk cId="0" sldId="860"/>
            <ac:spMk id="7" creationId="{00000000-0000-0000-0000-000000000000}"/>
          </ac:spMkLst>
        </pc:spChg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1"/>
        </pc:sldMkLst>
      </pc:sldChg>
      <pc:sldChg chg="modSp add mod">
        <pc:chgData name="Nikola Sekulovski" userId="2345901e-73d2-462d-8b82-8af2d9a2a087" providerId="ADAL" clId="{64B89F19-5709-53FC-B79D-01CD083CA518}" dt="2026-06-26T08:28:32.248" v="165" actId="20577"/>
        <pc:sldMkLst>
          <pc:docMk/>
          <pc:sldMk cId="0" sldId="862"/>
        </pc:sldMkLst>
        <pc:spChg chg="mod">
          <ac:chgData name="Nikola Sekulovski" userId="2345901e-73d2-462d-8b82-8af2d9a2a087" providerId="ADAL" clId="{64B89F19-5709-53FC-B79D-01CD083CA518}" dt="2026-06-26T08:28:26.293" v="164" actId="20577"/>
          <ac:spMkLst>
            <pc:docMk/>
            <pc:sldMk cId="0" sldId="862"/>
            <ac:spMk id="6" creationId="{8A8CFD91-B243-2D30-2072-EF47E778F559}"/>
          </ac:spMkLst>
        </pc:spChg>
        <pc:spChg chg="mod">
          <ac:chgData name="Nikola Sekulovski" userId="2345901e-73d2-462d-8b82-8af2d9a2a087" providerId="ADAL" clId="{64B89F19-5709-53FC-B79D-01CD083CA518}" dt="2026-06-26T08:28:32.248" v="165" actId="20577"/>
          <ac:spMkLst>
            <pc:docMk/>
            <pc:sldMk cId="0" sldId="862"/>
            <ac:spMk id="7" creationId="{00000000-0000-0000-0000-000000000000}"/>
          </ac:spMkLst>
        </pc:spChg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3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4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5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6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7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68"/>
        </pc:sldMkLst>
      </pc:sldChg>
      <pc:sldChg chg="modSp add mod">
        <pc:chgData name="Nikola Sekulovski" userId="2345901e-73d2-462d-8b82-8af2d9a2a087" providerId="ADAL" clId="{64B89F19-5709-53FC-B79D-01CD083CA518}" dt="2026-06-26T08:29:14.745" v="173" actId="20577"/>
        <pc:sldMkLst>
          <pc:docMk/>
          <pc:sldMk cId="0" sldId="871"/>
        </pc:sldMkLst>
        <pc:spChg chg="mod">
          <ac:chgData name="Nikola Sekulovski" userId="2345901e-73d2-462d-8b82-8af2d9a2a087" providerId="ADAL" clId="{64B89F19-5709-53FC-B79D-01CD083CA518}" dt="2026-06-26T08:29:14.745" v="173" actId="20577"/>
          <ac:spMkLst>
            <pc:docMk/>
            <pc:sldMk cId="0" sldId="871"/>
            <ac:spMk id="7" creationId="{00000000-0000-0000-0000-000000000000}"/>
          </ac:spMkLst>
        </pc:spChg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72"/>
        </pc:sldMkLst>
      </pc:sldChg>
      <pc:sldChg chg="add">
        <pc:chgData name="Nikola Sekulovski" userId="2345901e-73d2-462d-8b82-8af2d9a2a087" providerId="ADAL" clId="{64B89F19-5709-53FC-B79D-01CD083CA518}" dt="2026-06-22T11:52:22.786" v="31"/>
        <pc:sldMkLst>
          <pc:docMk/>
          <pc:sldMk cId="0" sldId="873"/>
        </pc:sldMkLst>
      </pc:sldChg>
      <pc:sldChg chg="modSp add mod">
        <pc:chgData name="Nikola Sekulovski" userId="2345901e-73d2-462d-8b82-8af2d9a2a087" providerId="ADAL" clId="{64B89F19-5709-53FC-B79D-01CD083CA518}" dt="2026-06-26T08:25:48.677" v="65" actId="20577"/>
        <pc:sldMkLst>
          <pc:docMk/>
          <pc:sldMk cId="0" sldId="874"/>
        </pc:sldMkLst>
        <pc:spChg chg="mod">
          <ac:chgData name="Nikola Sekulovski" userId="2345901e-73d2-462d-8b82-8af2d9a2a087" providerId="ADAL" clId="{64B89F19-5709-53FC-B79D-01CD083CA518}" dt="2026-06-26T08:25:48.677" v="65" actId="20577"/>
          <ac:spMkLst>
            <pc:docMk/>
            <pc:sldMk cId="0" sldId="874"/>
            <ac:spMk id="7" creationId="{00000000-0000-0000-0000-000000000000}"/>
          </ac:spMkLst>
        </pc:spChg>
      </pc:sldChg>
      <pc:sldChg chg="addSp modSp add mod">
        <pc:chgData name="Nikola Sekulovski" userId="2345901e-73d2-462d-8b82-8af2d9a2a087" providerId="ADAL" clId="{64B89F19-5709-53FC-B79D-01CD083CA518}" dt="2026-06-22T11:53:05.626" v="41" actId="1076"/>
        <pc:sldMkLst>
          <pc:docMk/>
          <pc:sldMk cId="442009512" sldId="875"/>
        </pc:sldMkLst>
        <pc:spChg chg="add mod">
          <ac:chgData name="Nikola Sekulovski" userId="2345901e-73d2-462d-8b82-8af2d9a2a087" providerId="ADAL" clId="{64B89F19-5709-53FC-B79D-01CD083CA518}" dt="2026-06-22T11:53:05.626" v="41" actId="1076"/>
          <ac:spMkLst>
            <pc:docMk/>
            <pc:sldMk cId="442009512" sldId="875"/>
            <ac:spMk id="3" creationId="{DEDFFDD7-2558-01A4-6C96-81C3B182FDCB}"/>
          </ac:spMkLst>
        </pc:spChg>
        <pc:spChg chg="mod">
          <ac:chgData name="Nikola Sekulovski" userId="2345901e-73d2-462d-8b82-8af2d9a2a087" providerId="ADAL" clId="{64B89F19-5709-53FC-B79D-01CD083CA518}" dt="2026-06-22T11:53:03.409" v="40" actId="1076"/>
          <ac:spMkLst>
            <pc:docMk/>
            <pc:sldMk cId="442009512" sldId="875"/>
            <ac:spMk id="4" creationId="{D1162DF6-1DA5-5239-FE7C-DBBDD46904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16AE5-1C58-C241-8A46-1377EBE29E69}" type="datetimeFigureOut">
              <a:rPr lang="en-US" smtClean="0"/>
              <a:t>6/26/26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3E1A2-D778-C442-AB48-8F91582977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47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C78420-72E8-E74B-835B-650A0332FEF0}" type="slidenum">
              <a:rPr lang="en-NL" smtClean="0"/>
              <a:t>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3553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4F730-21D4-A8E9-81F2-9B90DD750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710F6B-3191-81BA-B216-EAC50C6E70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8FBC7A-64A2-33DB-60B5-A13AE9BAF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BC0D8F-EEEC-647A-E120-FA39B3DA7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30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F3E7-B6ED-4CED-11AD-06C70F8F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C7201-496D-4F89-8C78-37DD548DF7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62CAE4-3917-AA10-A921-432B5B475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3A1E-C3E5-8806-AC02-2DB2A2BCAC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942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ED451-BEA6-661D-ACAE-EEA5E831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3D3B84-AA41-96C9-1CD9-6AEC1422C3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50584-AEFD-0204-564F-037B6A38C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BED40-D04A-14A1-62AD-039ADFDDB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0402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1DDA8-85C0-18F3-DA8C-F426F31A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98359-F218-2D2D-AEE3-EA580C7D9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6629B2-B81B-55D5-190B-21C2CA87B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C4307-735A-8B91-E3C0-F3BA1D903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3E1A2-D778-C442-AB48-8F91582977C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010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C790C-213B-055A-ABC5-DA540E8FE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3404D-113B-2085-12BF-7334ED449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4E0CE-7A41-C699-1C98-A1D3329B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158D4-D73A-354A-BDA6-EC5840E1F192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BC645-56D9-D7AE-AD7D-43F6EA45B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A0A53A-0E97-6789-7608-1DF384928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A606F-5319-118C-C346-ACED9B257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BE4A1-9235-7F62-828E-1420F8B8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FB7A7-EEAA-57C1-E809-CBC5E345A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6B5D5-DE28-C440-BDF1-028B6AF1423E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648DA-1625-7F64-52E1-1C81ACF1D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F8373-BA8E-FE15-8100-6F40B6E3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026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E0CE9-B8AA-B509-EC25-0F07066D9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5FF76-01C9-4D2B-7315-F396CF90B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01039-91C2-3392-3FAD-E849BAC4D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9A61-D284-0D4A-9DF0-028259DBBB4C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D1D759-15B8-CA98-7B43-23F52F403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77AAE-C1A1-50C0-8B0E-98BAE52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30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47E2-4270-E6D9-3C97-50EEA2533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3C5C7-C1E7-E853-6D12-6F37CF5FF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FC5685-99B4-EC24-7C51-A730541A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22140-04CC-B153-59BB-B8CDA96BD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90DF-029D-C34D-AD03-BBECC054E3EF}" type="datetime1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20466F-CD6E-261F-55CE-D99D2921F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FF1ED7-3536-E937-7683-62EF893F8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0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A6C10-689E-B53C-C9B2-8B0D48D9C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5275C-72E5-19B4-EB4E-05C965DBF7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BF714-B679-362A-29CA-87611F9A73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81A5-8F6F-8F26-F257-2D932429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2B3E8C-F438-AF33-CABE-FDE4CCD32E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3E99C9-ADBB-D6C5-6710-156F80C0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0892-B22B-E34F-96DA-CF8E095B4CCD}" type="datetime1">
              <a:rPr lang="en-US" smtClean="0"/>
              <a:t>6/26/26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84482D-B530-ACDD-B4D6-F87447B13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B4BE94-4996-B4D8-70E6-CF56B96DD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41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EF23-59A3-4AF1-402E-0CEA2FDE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C8FC82-42D8-C668-3551-4011D71A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AC1A6-E63E-3041-AB70-8C1DE95A7079}" type="datetime1">
              <a:rPr lang="en-US" smtClean="0"/>
              <a:t>6/26/26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CF9D48-ADE1-3BCC-8ABD-3E1105F23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4A5453-6AC0-1872-16B2-FA1FD831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4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D0C30D-E9D9-631E-E07B-BE25AEE4B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A8405-9D8F-3545-8A13-BD90D474B687}" type="datetime1">
              <a:rPr lang="en-US" smtClean="0"/>
              <a:t>6/26/26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E82AA2-EFCA-4C2E-BAB9-554039FAB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083B4-6EE0-AB1C-A540-5867E6E4D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89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7DA0E-3330-179B-119F-33D4180FB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FE6F33-818D-9F94-101F-4C0EDC229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EEBEF7-E15D-2E31-E0BB-B4945C389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36F7F7-812B-AA5E-B5C6-B2D0212E8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84E772-4490-2B47-A10A-C999148E72BF}" type="datetime1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1B7710-37CA-AC83-933A-FAB2217D0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F5BE7-DADC-B30E-31CA-AF2EB700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87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66792-27CC-38C1-501C-473873033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7F787-F7F2-86CC-0823-48FA169E34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C004EC-3022-3EED-8891-061D0634E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1FEC4-B6F3-8F84-153B-1C69F2125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FB597-AA40-EC49-AFE4-254F62A4BA9C}" type="datetime1">
              <a:rPr lang="en-US" smtClean="0"/>
              <a:t>6/26/26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E0C4A-05B3-167A-9112-9428A1773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AFD227-4176-9773-21AD-75C880D89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50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036E-E110-9EEE-A4BA-5C9A7EB5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52D5EC-EEAC-1A7D-7A03-BD0B60143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D3A7B-34D4-3913-EC2B-042F479EF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31214-8B4C-4F41-966D-619BE8F1A95B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9253B-0A99-38D0-F2D6-0B715DE85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F35A-5E93-C5F1-4A99-249706F7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668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307819-34DC-B529-70F9-D90F0B5FD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3E8DD7-8CFF-E9B0-939A-9EAD1F42E8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79D74-3C85-8B9E-1583-44A1D103C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5F2F0-5D76-B64E-89B5-775814C10729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C8DA3-E276-FA75-5BEE-E0B3558BA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0BF16-84ED-3C67-51AC-8445C1D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8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AB9667-5599-6838-AD95-762D8A6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5ED55C-C25C-3222-D83C-35CA5FDFB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FAF6E-18A7-A70E-05BE-F710BC6B91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90C8BE-E19A-D942-8D04-CEEB89E39449}" type="datetime1">
              <a:rPr lang="en-US" smtClean="0"/>
              <a:t>6/26/26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32CB6-3DF0-FD3F-E1EF-A040F0D89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22B07-086B-300E-C8B4-21828A3ADE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A1BBB-3647-7146-9CE9-E866F85C08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25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hyperlink" Target="mailto:m.marsman@uva.n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emf"/><Relationship Id="rId4" Type="http://schemas.openxmlformats.org/officeDocument/2006/relationships/image" Target="../media/image1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BBB73-188F-5C45-B8B5-B024412E6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38" y="474840"/>
            <a:ext cx="12192000" cy="1980441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Bayesian Graphical Modeling</a:t>
            </a:r>
            <a:br>
              <a:rPr lang="nl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</a:br>
            <a:endParaRPr lang="en-NL" sz="2700" i="1" dirty="0">
              <a:solidFill>
                <a:schemeClr val="accent1">
                  <a:lumMod val="50000"/>
                </a:schemeClr>
              </a:solidFill>
              <a:latin typeface="Helvetica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0DB2978-95A3-2651-2A14-2F7C747188B4}"/>
              </a:ext>
            </a:extLst>
          </p:cNvPr>
          <p:cNvSpPr txBox="1">
            <a:spLocks/>
          </p:cNvSpPr>
          <p:nvPr/>
        </p:nvSpPr>
        <p:spPr>
          <a:xfrm>
            <a:off x="4355119" y="2472512"/>
            <a:ext cx="3403426" cy="9887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accent2"/>
                </a:solidFill>
                <a:latin typeface="Helvetica" pitchFamily="2" charset="0"/>
                <a:cs typeface="Courier New" panose="02070309020205020404" pitchFamily="49" charset="0"/>
              </a:rPr>
              <a:t>Theory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89D63D-F6BE-C8B4-EBBD-B095A45B5175}"/>
              </a:ext>
            </a:extLst>
          </p:cNvPr>
          <p:cNvSpPr/>
          <p:nvPr/>
        </p:nvSpPr>
        <p:spPr>
          <a:xfrm>
            <a:off x="-1" y="5165353"/>
            <a:ext cx="12192000" cy="1692647"/>
          </a:xfrm>
          <a:prstGeom prst="rect">
            <a:avLst/>
          </a:prstGeom>
          <a:solidFill>
            <a:srgbClr val="1F3764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FFF06B-4D59-014B-666B-09D0E79EAC9C}"/>
              </a:ext>
            </a:extLst>
          </p:cNvPr>
          <p:cNvSpPr txBox="1"/>
          <p:nvPr/>
        </p:nvSpPr>
        <p:spPr>
          <a:xfrm>
            <a:off x="111337" y="5380672"/>
            <a:ext cx="478015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PsyNets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</a:t>
            </a:r>
            <a:r>
              <a:rPr lang="en-GB" i="1" dirty="0" err="1">
                <a:solidFill>
                  <a:srgbClr val="1F3764"/>
                </a:solidFill>
                <a:effectLst/>
                <a:latin typeface="Helvetica" pitchFamily="2" charset="0"/>
              </a:rPr>
              <a:t>Winterschool</a:t>
            </a:r>
            <a:r>
              <a:rPr lang="en-GB" i="1" dirty="0">
                <a:solidFill>
                  <a:srgbClr val="1F3764"/>
                </a:solidFill>
                <a:effectLst/>
                <a:latin typeface="Helvetica" pitchFamily="2" charset="0"/>
              </a:rPr>
              <a:t> 2026</a:t>
            </a:r>
          </a:p>
          <a:p>
            <a:pPr algn="l"/>
            <a:endParaRPr lang="en-NL" sz="2400" dirty="0">
              <a:solidFill>
                <a:srgbClr val="0563C1"/>
              </a:solidFill>
              <a:latin typeface="Helvetica" pitchFamily="2" charset="0"/>
              <a:cs typeface="Times New Roman" panose="02020603050405020304" pitchFamily="18" charset="0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n.sekulovski</a:t>
            </a:r>
            <a:r>
              <a:rPr lang="en-NL" sz="180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</a:t>
            </a:r>
            <a:r>
              <a:rPr lang="en-NL" sz="1800" dirty="0">
                <a:solidFill>
                  <a:srgbClr val="0563C1"/>
                </a:solidFill>
                <a:latin typeface="Helvetica" pitchFamily="2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uva.nl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 </a:t>
            </a:r>
          </a:p>
          <a:p>
            <a:r>
              <a:rPr lang="en-GB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b</a:t>
            </a:r>
            <a:r>
              <a:rPr lang="en-NL" sz="1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ayesiangraphicalmodeling.com</a:t>
            </a:r>
          </a:p>
        </p:txBody>
      </p:sp>
      <p:pic>
        <p:nvPicPr>
          <p:cNvPr id="22" name="Picture 2">
            <a:extLst>
              <a:ext uri="{FF2B5EF4-FFF2-40B4-BE49-F238E27FC236}">
                <a16:creationId xmlns:a16="http://schemas.microsoft.com/office/drawing/2014/main" id="{6EF41F09-CE93-AB06-3C1E-9C0B6CCD76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87" y="5468592"/>
            <a:ext cx="1165003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3A3592AF-E9FD-8DB9-53F8-883CB8FA1B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2453" y="5466218"/>
            <a:ext cx="789231" cy="1080000"/>
          </a:xfrm>
          <a:prstGeom prst="rect">
            <a:avLst/>
          </a:prstGeom>
        </p:spPr>
      </p:pic>
      <p:pic>
        <p:nvPicPr>
          <p:cNvPr id="24" name="Picture 2">
            <a:extLst>
              <a:ext uri="{FF2B5EF4-FFF2-40B4-BE49-F238E27FC236}">
                <a16:creationId xmlns:a16="http://schemas.microsoft.com/office/drawing/2014/main" id="{38E47EC7-A882-C090-0224-5A24BE804A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7470" y="6300725"/>
            <a:ext cx="1573192" cy="456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A green circle with white lines and dots&#10;&#10;AI-generated content may be incorrect.">
            <a:extLst>
              <a:ext uri="{FF2B5EF4-FFF2-40B4-BE49-F238E27FC236}">
                <a16:creationId xmlns:a16="http://schemas.microsoft.com/office/drawing/2014/main" id="{47F47523-47A0-54E9-206B-69C830ADB3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80867" y="5372877"/>
            <a:ext cx="810690" cy="810690"/>
          </a:xfrm>
          <a:prstGeom prst="rect">
            <a:avLst/>
          </a:prstGeom>
        </p:spPr>
      </p:pic>
      <p:pic>
        <p:nvPicPr>
          <p:cNvPr id="26" name="Picture 2" descr="logo NWO">
            <a:extLst>
              <a:ext uri="{FF2B5EF4-FFF2-40B4-BE49-F238E27FC236}">
                <a16:creationId xmlns:a16="http://schemas.microsoft.com/office/drawing/2014/main" id="{260C29D7-EB8D-09F5-5CE9-A3FA9D9FE7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89" t="8791" r="32918" b="7374"/>
          <a:stretch>
            <a:fillRect/>
          </a:stretch>
        </p:blipFill>
        <p:spPr bwMode="auto">
          <a:xfrm>
            <a:off x="7744075" y="5466534"/>
            <a:ext cx="667305" cy="1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A black background with blue circles and dots&#10;&#10;AI-generated content may be incorrect.">
            <a:extLst>
              <a:ext uri="{FF2B5EF4-FFF2-40B4-BE49-F238E27FC236}">
                <a16:creationId xmlns:a16="http://schemas.microsoft.com/office/drawing/2014/main" id="{8FC6D86F-8E44-ECCC-F8ED-4F289E7FEF0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4948" y="5372877"/>
            <a:ext cx="1861951" cy="115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23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5301B-2C1C-DE84-0FFE-502B5E351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B24D6-FC48-74C7-FE23-095366399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13163F-CD9F-C931-4B84-83378A2A9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C19620F-9FB4-CA9D-1D9A-FFE1AC49B555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992AAB62-BDB5-B46E-C31D-195C635DF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E3C1326-AC61-C55B-C901-4687494B3F4A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D37DB5E-AE9D-8CC9-590B-1B0DE9AA99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38A8CE4-9085-EA1B-93D7-FF146FFF5E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5FA4D8C-95FA-CDAA-1AF0-3EE2E0417C8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59277A2-624C-B422-ABEE-C9C20FDD41E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C7AFD26-33BB-1033-8223-CE915CFF812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B1898E7D-3E0D-6D9F-1384-15CDB25C62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EE095CD-08E0-A8E6-4D4F-C61CE71861F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D7CC0683-ADA7-DA87-3E94-FEF55874F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31BB3B7-BD31-3FAE-FFD2-76C637ABD646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3A95EA87-7483-F465-E581-8F79F0E9A22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D15850A3-2DBB-3EB8-5CED-A63FEBBFC8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A356E908-3A6E-B759-ABB0-0917C7B631B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CC5D0FB5-D944-03B9-849B-A843AD5AC9D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912737FF-6FF8-0749-4080-87420A685E3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B54A9A-AD0E-2350-83AA-D20C2FB468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2AAF0BB-7085-F9A4-6D12-DC36DDBC375B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4E7AEEE-9AA7-15D2-59BA-A2750F6590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FE12F724-BBC3-1344-08D1-ABCF721177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8D011C4-BE32-7981-1D05-ABEDDC09C4A7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2574BDA-B6C2-588D-63D9-000EB98DB5E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1E901C12-F179-64D9-D80A-61EA803A4D5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219D8C5F-7472-D889-7BFD-EBC04366F6A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CE175F24-204D-7B73-367A-B0E0C14DBDD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59F34B78-C6B3-636D-94FC-F21045EF700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44137BC-FF79-C09E-8328-98F3A571947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3DB9EE74-519C-A2DA-DEAD-4159E6B56B7F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508A96D-4466-0635-4854-3A807181BE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543E1AF-8F75-E5C9-85D8-F424F2A6A29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580D618-2913-09A3-3FE4-1A7FB2B381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C5B63C1A-F114-F47A-9D8B-5F1A9E5FEE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4CE4F9A-8042-CCCF-93A3-332DF0975C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9F064076-298D-F705-5F7C-9DB6CB7DABF1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8D87CB3-29ED-BF64-B2B9-30FD2D655A00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C68A353-9B54-8CEB-6944-108EC3A45991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6A6DCA71-8951-9732-1E0D-8F6805C577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173F92C4-06B4-3495-C584-9CD06B8F0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C1ACAAD-6106-DAAB-1C16-498A75438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554D933D-82CD-5AAF-7D3D-C168ED6D40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06621576-D2CF-2C4E-3AF6-7A03B3E9E46B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67AB8F7D-0D02-2E63-F6B8-ACC3749C13EB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68C83C18-5523-2D87-79A2-86D9F9FACA5C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356CD05E-24A3-5BD2-2595-7F2966109A2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0DDF7CEE-76CA-A42D-DF1C-569253B164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9E549A0B-F872-915D-4FD9-97981F52855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61594647-F3E9-D0E0-15D8-FF5A7065C85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6D9A113-EBD5-EB77-543F-55098DCA8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02F52D2-844B-2D1E-98E5-0B62C374D766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F14A4AFA-C8EB-5549-FC65-159A1C72F4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79A4F193-4D50-935B-D15C-46E0AF2D9085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E83A1D1-EBA3-EA2B-1954-BCC484DFF7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7D45F793-AEF1-C4ED-3420-76541280DE84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C26F367-E167-C913-E5E7-A291CEAEAF4B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4C46743-1623-A4B2-24CF-B23F9D7ABE1A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081C2DE4-8B13-18B0-5161-DAC4D9BC16C5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F2283543-840F-093A-76A4-43AC80D7A190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78C2C279-5FB7-08CD-98CE-7681F264C492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E4A39C7-DE7F-211E-9EDE-3A5528D02659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06FB57F-E1D5-3576-F97B-DA8DF039BA83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99C86109-CFED-2371-4E44-B9F0F8A7E23E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9CD3856-4E9E-3EC2-BBA5-1F8FD19E6AB4}"/>
              </a:ext>
            </a:extLst>
          </p:cNvPr>
          <p:cNvSpPr txBox="1"/>
          <p:nvPr/>
        </p:nvSpPr>
        <p:spPr>
          <a:xfrm>
            <a:off x="4724400" y="424478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</p:spTree>
    <p:extLst>
      <p:ext uri="{BB962C8B-B14F-4D97-AF65-F5344CB8AC3E}">
        <p14:creationId xmlns:p14="http://schemas.microsoft.com/office/powerpoint/2010/main" val="324180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5CA4-FF22-A65A-CCF9-8B2E0099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FD2ED-0A6E-8334-7BD6-AB04FE3A4C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Setup Today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C4EA24-D9D4-830E-B2E5-6673A581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3</a:t>
            </a:fld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89F2B2D-EFAC-8C5E-ABE0-CC1273C8A25B}"/>
              </a:ext>
            </a:extLst>
          </p:cNvPr>
          <p:cNvGrpSpPr>
            <a:grpSpLocks noChangeAspect="1"/>
          </p:cNvGrpSpPr>
          <p:nvPr/>
        </p:nvGrpSpPr>
        <p:grpSpPr>
          <a:xfrm>
            <a:off x="1273414" y="1820695"/>
            <a:ext cx="2875950" cy="2160000"/>
            <a:chOff x="733833" y="2726761"/>
            <a:chExt cx="1687224" cy="126730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C44E357-C3B6-135F-EA9F-A194583D7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3833" y="2727116"/>
              <a:ext cx="1687224" cy="1266953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4055994-895A-4D30-0A58-A4A53F962C76}"/>
                </a:ext>
              </a:extLst>
            </p:cNvPr>
            <p:cNvGrpSpPr/>
            <p:nvPr/>
          </p:nvGrpSpPr>
          <p:grpSpPr>
            <a:xfrm>
              <a:off x="804196" y="2726761"/>
              <a:ext cx="1557087" cy="1242736"/>
              <a:chOff x="4891716" y="1197653"/>
              <a:chExt cx="6446244" cy="5144841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24E90D30-9E1F-8473-DB92-E202AEA9D5F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16464A8-6D78-E5B9-074A-FFF0890B9EB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4E240D7E-56CA-07D7-B4DB-549DBD48ED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7D51638-9E8A-EDA6-D884-CDF37D39B52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8C5D0E3-8AA4-D9FD-0BA5-31420D516AC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0C9AB5B-078E-FB39-392F-5E13EEE8D70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4101C62-23AE-8257-4B6E-72D449DCEAA8}"/>
              </a:ext>
            </a:extLst>
          </p:cNvPr>
          <p:cNvGrpSpPr>
            <a:grpSpLocks noChangeAspect="1"/>
          </p:cNvGrpSpPr>
          <p:nvPr/>
        </p:nvGrpSpPr>
        <p:grpSpPr>
          <a:xfrm>
            <a:off x="4998447" y="2863203"/>
            <a:ext cx="1207796" cy="907200"/>
            <a:chOff x="7604025" y="2789885"/>
            <a:chExt cx="1687224" cy="126730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BFDBA969-2D72-38B9-0760-D9BA59EF5F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04025" y="2790240"/>
              <a:ext cx="1687224" cy="1266953"/>
            </a:xfrm>
            <a:prstGeom prst="rect">
              <a:avLst/>
            </a:prstGeom>
          </p:spPr>
        </p:pic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EA8DD78-8569-9AC7-957C-82691F4F2E13}"/>
                </a:ext>
              </a:extLst>
            </p:cNvPr>
            <p:cNvGrpSpPr/>
            <p:nvPr/>
          </p:nvGrpSpPr>
          <p:grpSpPr>
            <a:xfrm>
              <a:off x="7674388" y="2789885"/>
              <a:ext cx="1557087" cy="1242736"/>
              <a:chOff x="4891716" y="1197653"/>
              <a:chExt cx="6446244" cy="5144841"/>
            </a:xfrm>
          </p:grpSpPr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B9D147F3-E0EC-64DE-D7BD-D27D1DA5A6C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698526" y="1197653"/>
                <a:ext cx="1114885" cy="1115997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E4F17207-D493-9D6C-A41F-310B2A2B115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891716" y="2915401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65565AC3-D318-7576-0862-BDB47E55FB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684907" y="5226493"/>
                <a:ext cx="1114886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DA3DE2D3-7244-FDD1-C8D5-2E464398837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959126" y="2175555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085FB4AA-7404-7DEB-0DE1-914B50A98D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0223075" y="3947644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9049CD3C-8B3F-0B5F-1D55-7C4231F0B24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8281092" y="5115472"/>
                <a:ext cx="1114885" cy="1116001"/>
              </a:xfrm>
              <a:prstGeom prst="ellipse">
                <a:avLst/>
              </a:prstGeom>
              <a:solidFill>
                <a:srgbClr val="FAAF4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2EE917B-F5BE-87B5-8264-108383269D4D}"/>
              </a:ext>
            </a:extLst>
          </p:cNvPr>
          <p:cNvGrpSpPr/>
          <p:nvPr/>
        </p:nvGrpSpPr>
        <p:grpSpPr>
          <a:xfrm>
            <a:off x="5896023" y="1949849"/>
            <a:ext cx="1207796" cy="907200"/>
            <a:chOff x="7989731" y="2900568"/>
            <a:chExt cx="1207796" cy="90720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A2A909C-6636-C3F4-4C81-38E1D38D761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989731" y="2900568"/>
              <a:ext cx="1207796" cy="907200"/>
              <a:chOff x="7604025" y="2789885"/>
              <a:chExt cx="1687224" cy="126730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7E0FA00F-75C2-0E2A-907B-CBEB0C7F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04025" y="2790240"/>
                <a:ext cx="1687224" cy="1266953"/>
              </a:xfrm>
              <a:prstGeom prst="rect">
                <a:avLst/>
              </a:prstGeom>
            </p:spPr>
          </p:pic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6277177D-BAD9-3E5C-0D7A-0DDC27826025}"/>
                  </a:ext>
                </a:extLst>
              </p:cNvPr>
              <p:cNvGrpSpPr/>
              <p:nvPr/>
            </p:nvGrpSpPr>
            <p:grpSpPr>
              <a:xfrm>
                <a:off x="7674388" y="2789885"/>
                <a:ext cx="1557087" cy="1242736"/>
                <a:chOff x="4891716" y="1197653"/>
                <a:chExt cx="6446244" cy="514484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2ADE1B54-FD41-AC5E-00EC-EE825119311B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4891716" y="2915401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96C1464F-BB67-27E5-2130-0E090E571FA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5684907" y="5226493"/>
                  <a:ext cx="1114886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1F173601-8E2D-1D8C-DDB6-7BE256C00D6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959126" y="2175555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8439B2-157D-47AB-D26D-F0AFC2AD4ED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0223075" y="3947644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14D7A63-05DF-630D-1C60-2EB92EBC25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8281092" y="5115472"/>
                  <a:ext cx="1114885" cy="1116001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6D883B7-9EA2-674E-2CE1-73F3B3F46F4C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698526" y="1197653"/>
                  <a:ext cx="1114885" cy="1115997"/>
                </a:xfrm>
                <a:prstGeom prst="ellipse">
                  <a:avLst/>
                </a:prstGeom>
                <a:solidFill>
                  <a:srgbClr val="FAAF4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NL" sz="1300"/>
                </a:p>
              </p:txBody>
            </p:sp>
          </p:grpSp>
        </p:grp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A5432B27-6967-9C20-27B7-8B329947ED21}"/>
                </a:ext>
              </a:extLst>
            </p:cNvPr>
            <p:cNvCxnSpPr>
              <a:cxnSpLocks/>
            </p:cNvCxnSpPr>
            <p:nvPr/>
          </p:nvCxnSpPr>
          <p:spPr>
            <a:xfrm>
              <a:off x="8438836" y="3019612"/>
              <a:ext cx="311606" cy="750740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48970187-E15F-E985-3EF9-C24ACBA35C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53318" y="2902021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2A30D8C-6BD5-5FF5-FBC1-2EF04338A1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623367" y="3577382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19AAE925-4B72-992A-E8AF-A5E6FCA9CB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36489" y="3172787"/>
              <a:ext cx="679656" cy="11406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74D9434F-7AC3-D18F-FFF6-64D6AB35F2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040100" y="3201340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A0F87E89-935F-CC76-D7B6-B5EE7DE56A8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43407" y="3065326"/>
              <a:ext cx="192778" cy="192970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AAAEFCAD-53A5-E88E-3EFC-27BCE56E6D7F}"/>
              </a:ext>
            </a:extLst>
          </p:cNvPr>
          <p:cNvSpPr txBox="1"/>
          <p:nvPr/>
        </p:nvSpPr>
        <p:spPr>
          <a:xfrm>
            <a:off x="5764426" y="4826072"/>
            <a:ext cx="3269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Afternoon Session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8DF25C1-842C-7846-E0BF-1382D20B5DF2}"/>
              </a:ext>
            </a:extLst>
          </p:cNvPr>
          <p:cNvGrpSpPr>
            <a:grpSpLocks noChangeAspect="1"/>
          </p:cNvGrpSpPr>
          <p:nvPr/>
        </p:nvGrpSpPr>
        <p:grpSpPr>
          <a:xfrm>
            <a:off x="8529738" y="1938361"/>
            <a:ext cx="2285476" cy="2088000"/>
            <a:chOff x="8365244" y="5029499"/>
            <a:chExt cx="1293092" cy="1128222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EB1F313-C9D7-D2B7-85B2-B36F3CFA9E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827" y="5595914"/>
              <a:ext cx="772835" cy="336913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D339ED1B-BB8A-FF45-A871-6E6B730D22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056415" y="5896293"/>
              <a:ext cx="262982" cy="1649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23DE68F-DF37-87BA-7F62-6780F8F067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7556" y="5315115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778D2524-E039-5EAF-84C5-F64D9EC50E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8013" y="5579941"/>
              <a:ext cx="182901" cy="41574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E98D621B-0E5A-F243-9137-53C43E821775}"/>
                </a:ext>
              </a:extLst>
            </p:cNvPr>
            <p:cNvCxnSpPr>
              <a:cxnSpLocks/>
            </p:cNvCxnSpPr>
            <p:nvPr/>
          </p:nvCxnSpPr>
          <p:spPr>
            <a:xfrm>
              <a:off x="8608210" y="5313651"/>
              <a:ext cx="275935" cy="33558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B8A09B7F-3848-2174-FC35-D717EA3DF950}"/>
                </a:ext>
              </a:extLst>
            </p:cNvPr>
            <p:cNvCxnSpPr>
              <a:cxnSpLocks/>
            </p:cNvCxnSpPr>
            <p:nvPr/>
          </p:nvCxnSpPr>
          <p:spPr>
            <a:xfrm>
              <a:off x="8869238" y="5634333"/>
              <a:ext cx="140760" cy="376525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0B8F5FA-99CD-E263-32E1-391F97A37D27}"/>
                </a:ext>
              </a:extLst>
            </p:cNvPr>
            <p:cNvGrpSpPr/>
            <p:nvPr/>
          </p:nvGrpSpPr>
          <p:grpSpPr>
            <a:xfrm>
              <a:off x="8365244" y="5245655"/>
              <a:ext cx="751881" cy="912066"/>
              <a:chOff x="8379647" y="5245513"/>
              <a:chExt cx="751881" cy="912066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E9A51EB-50CB-11A9-49FC-AC7C48D081B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79647" y="562867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80D7AE92-9D90-4AA5-1B72-34FA7167335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28429" y="5964608"/>
                <a:ext cx="203099" cy="192971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67518FD0-F687-44FA-4187-0E534D023B2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776309" y="5545018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06F26A19-F283-5AFE-B67C-F7A3CE33F56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540228" y="5245513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 dirty="0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C701FD13-952B-DD7A-EABD-73E220D64D8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636617" y="5834496"/>
                <a:ext cx="203099" cy="193964"/>
              </a:xfrm>
              <a:prstGeom prst="ellipse">
                <a:avLst/>
              </a:prstGeom>
              <a:solidFill>
                <a:srgbClr val="67BB6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NL" sz="1300"/>
              </a:p>
            </p:txBody>
          </p:sp>
        </p:grp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309AA49-E44C-BB3D-C6F1-BB85B35E0017}"/>
                </a:ext>
              </a:extLst>
            </p:cNvPr>
            <p:cNvCxnSpPr>
              <a:cxnSpLocks/>
            </p:cNvCxnSpPr>
            <p:nvPr/>
          </p:nvCxnSpPr>
          <p:spPr>
            <a:xfrm>
              <a:off x="9455236" y="5274568"/>
              <a:ext cx="88142" cy="309899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8FC8E25-B83D-3DF8-810D-805A788C09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66608" y="5278778"/>
              <a:ext cx="206138" cy="209597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63B70F02-75BA-6893-803E-0580C1C0BB9A}"/>
                </a:ext>
              </a:extLst>
            </p:cNvPr>
            <p:cNvCxnSpPr>
              <a:cxnSpLocks/>
            </p:cNvCxnSpPr>
            <p:nvPr/>
          </p:nvCxnSpPr>
          <p:spPr>
            <a:xfrm>
              <a:off x="9306990" y="5436014"/>
              <a:ext cx="34477" cy="491142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074763BB-A30B-66A1-C09C-67DB821E6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850" y="5104855"/>
              <a:ext cx="152400" cy="376094"/>
            </a:xfrm>
            <a:prstGeom prst="line">
              <a:avLst/>
            </a:prstGeom>
            <a:ln w="19050">
              <a:solidFill>
                <a:srgbClr val="5885A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94FC5937-E848-912E-91FB-639824E5B012}"/>
                </a:ext>
              </a:extLst>
            </p:cNvPr>
            <p:cNvSpPr>
              <a:spLocks/>
            </p:cNvSpPr>
            <p:nvPr/>
          </p:nvSpPr>
          <p:spPr>
            <a:xfrm>
              <a:off x="9193655" y="536651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FF80B4A-9F37-506B-C159-A4D90457D510}"/>
                </a:ext>
              </a:extLst>
            </p:cNvPr>
            <p:cNvSpPr>
              <a:spLocks/>
            </p:cNvSpPr>
            <p:nvPr/>
          </p:nvSpPr>
          <p:spPr>
            <a:xfrm>
              <a:off x="9455236" y="548094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1AFA0D93-D7B9-4E4B-5F2D-0465E911040D}"/>
                </a:ext>
              </a:extLst>
            </p:cNvPr>
            <p:cNvSpPr>
              <a:spLocks/>
            </p:cNvSpPr>
            <p:nvPr/>
          </p:nvSpPr>
          <p:spPr>
            <a:xfrm>
              <a:off x="9368921" y="5192867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D3A04AB-99B4-1781-1E88-75AB18D8D76D}"/>
                </a:ext>
              </a:extLst>
            </p:cNvPr>
            <p:cNvSpPr>
              <a:spLocks/>
            </p:cNvSpPr>
            <p:nvPr/>
          </p:nvSpPr>
          <p:spPr>
            <a:xfrm>
              <a:off x="9054461" y="5029499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DF946B3C-630F-FF48-2853-C1500DAE9461}"/>
                </a:ext>
              </a:extLst>
            </p:cNvPr>
            <p:cNvSpPr>
              <a:spLocks/>
            </p:cNvSpPr>
            <p:nvPr/>
          </p:nvSpPr>
          <p:spPr>
            <a:xfrm>
              <a:off x="9255407" y="5762500"/>
              <a:ext cx="203100" cy="193964"/>
            </a:xfrm>
            <a:prstGeom prst="ellipse">
              <a:avLst/>
            </a:prstGeom>
            <a:solidFill>
              <a:srgbClr val="FAAF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 sz="1300"/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D8E25888-C183-F28F-8D09-3DB13A6788EF}"/>
              </a:ext>
            </a:extLst>
          </p:cNvPr>
          <p:cNvSpPr txBox="1"/>
          <p:nvPr/>
        </p:nvSpPr>
        <p:spPr>
          <a:xfrm>
            <a:off x="8801408" y="4229557"/>
            <a:ext cx="18876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Clustering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CF608D89-FEE7-E774-F664-30A5F52A4E22}"/>
              </a:ext>
            </a:extLst>
          </p:cNvPr>
          <p:cNvSpPr txBox="1"/>
          <p:nvPr/>
        </p:nvSpPr>
        <p:spPr>
          <a:xfrm>
            <a:off x="4724400" y="4244780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Network Comparison</a:t>
            </a:r>
          </a:p>
        </p:txBody>
      </p: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A4E2CE01-7A5F-2B71-BA16-5E4D3F073F0D}"/>
              </a:ext>
            </a:extLst>
          </p:cNvPr>
          <p:cNvCxnSpPr>
            <a:cxnSpLocks/>
          </p:cNvCxnSpPr>
          <p:nvPr/>
        </p:nvCxnSpPr>
        <p:spPr>
          <a:xfrm flipH="1">
            <a:off x="4237405" y="1656522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>
            <a:extLst>
              <a:ext uri="{FF2B5EF4-FFF2-40B4-BE49-F238E27FC236}">
                <a16:creationId xmlns:a16="http://schemas.microsoft.com/office/drawing/2014/main" id="{46291334-11BF-5C34-1A46-3CD1238413E7}"/>
              </a:ext>
            </a:extLst>
          </p:cNvPr>
          <p:cNvSpPr txBox="1"/>
          <p:nvPr/>
        </p:nvSpPr>
        <p:spPr>
          <a:xfrm>
            <a:off x="1356422" y="4229557"/>
            <a:ext cx="2526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Estimating &amp; Testing</a:t>
            </a:r>
          </a:p>
        </p:txBody>
      </p: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DF4A723-BE84-EF41-88B9-325A82260899}"/>
              </a:ext>
            </a:extLst>
          </p:cNvPr>
          <p:cNvCxnSpPr>
            <a:cxnSpLocks/>
          </p:cNvCxnSpPr>
          <p:nvPr/>
        </p:nvCxnSpPr>
        <p:spPr>
          <a:xfrm flipH="1">
            <a:off x="7493852" y="1653429"/>
            <a:ext cx="775818" cy="2352079"/>
          </a:xfrm>
          <a:prstGeom prst="line">
            <a:avLst/>
          </a:prstGeom>
          <a:ln w="38100">
            <a:solidFill>
              <a:schemeClr val="bg1">
                <a:lumMod val="8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63502313-EDFE-567E-11AB-10E8353FB87C}"/>
              </a:ext>
            </a:extLst>
          </p:cNvPr>
          <p:cNvSpPr/>
          <p:nvPr/>
        </p:nvSpPr>
        <p:spPr>
          <a:xfrm>
            <a:off x="261137" y="1155959"/>
            <a:ext cx="8042636" cy="3578087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91019D-99A1-F024-AD93-8276649DEA7F}"/>
              </a:ext>
            </a:extLst>
          </p:cNvPr>
          <p:cNvSpPr txBox="1"/>
          <p:nvPr/>
        </p:nvSpPr>
        <p:spPr>
          <a:xfrm>
            <a:off x="1182590" y="4826072"/>
            <a:ext cx="28648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</a:rPr>
              <a:t>Morning Session</a:t>
            </a:r>
          </a:p>
        </p:txBody>
      </p:sp>
    </p:spTree>
    <p:extLst>
      <p:ext uri="{BB962C8B-B14F-4D97-AF65-F5344CB8AC3E}">
        <p14:creationId xmlns:p14="http://schemas.microsoft.com/office/powerpoint/2010/main" val="33770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D32D0-188B-2522-0D1B-0BDB44DFE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2A5CB84-EFE6-6C57-E5E9-9812D0FBA14D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A490350-2194-780C-CBF6-6BF1B74B3ED9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4" name="Picture 23" descr="Icon&#10;&#10;Description automatically generated">
                <a:extLst>
                  <a:ext uri="{FF2B5EF4-FFF2-40B4-BE49-F238E27FC236}">
                    <a16:creationId xmlns:a16="http://schemas.microsoft.com/office/drawing/2014/main" id="{2E3F4D98-2CF4-7DC2-BAA4-FD0C3C3E92A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B95D638-CB57-05AD-2FDB-CC3448EBC66A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1E74376-F3C3-5581-9D78-E5B4437742A7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20" name="Picture 19" descr="Icon&#10;&#10;Description automatically generated">
                <a:extLst>
                  <a:ext uri="{FF2B5EF4-FFF2-40B4-BE49-F238E27FC236}">
                    <a16:creationId xmlns:a16="http://schemas.microsoft.com/office/drawing/2014/main" id="{63311310-F46B-026D-6E45-B033ECCDE0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E76F6BD-75C2-C9B9-FFAA-C33951E1A438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DCB63163-0257-8E12-5D72-72595B0F93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8C9AFED-3D12-40D0-228A-2E34657E66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CEDE105-B435-772C-E13E-13C15E721BD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A45EBF4A-0089-232F-1019-6F41D6A2CB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31C80A30-1245-4656-A066-A56A6AEC19A0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9EFD81C-ED11-29A6-47AB-273B3FF3F972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A40C22-0853-FF30-6588-BDD18E46DE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18C85-B10F-F77D-D084-374145694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115953-008C-93A0-DC92-8A6DCA759F61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AAEBC01-3582-6A4B-98E8-93C4E9DFC7F7}"/>
              </a:ext>
            </a:extLst>
          </p:cNvPr>
          <p:cNvSpPr/>
          <p:nvPr/>
        </p:nvSpPr>
        <p:spPr>
          <a:xfrm>
            <a:off x="4702121" y="1313828"/>
            <a:ext cx="5609347" cy="4227615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501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Priors on the network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920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The prior on the structure, </a:t>
            </a:r>
            <a:r>
              <a:rPr sz="3000" b="1">
                <a:solidFill>
                  <a:srgbClr val="203864"/>
                </a:solidFill>
                <a:latin typeface="Helvetica"/>
              </a:rPr>
              <a:t>p(G)</a:t>
            </a:r>
            <a:r>
              <a:rPr sz="3000" b="0">
                <a:solidFill>
                  <a:srgbClr val="203864"/>
                </a:solidFill>
                <a:latin typeface="Helvetica"/>
              </a:rPr>
              <a:t>, says which network structures we consider plausible before seeing the data.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Specifying it is one of the defining features of Bayesian graphical modeling.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Two structure priors so far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920240"/>
            <a:ext cx="108813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1" dirty="0">
                <a:solidFill>
                  <a:srgbClr val="203864"/>
                </a:solidFill>
                <a:latin typeface="Helvetica"/>
              </a:rPr>
              <a:t>Bernoulli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— each edge is included with a fixed </a:t>
            </a:r>
            <a:r>
              <a:rPr lang="en-US" sz="3000" dirty="0">
                <a:solidFill>
                  <a:srgbClr val="203864"/>
                </a:solidFill>
                <a:latin typeface="Helvetica"/>
              </a:rPr>
              <a:t>and independent 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probability.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1" dirty="0">
                <a:solidFill>
                  <a:srgbClr val="203864"/>
                </a:solidFill>
                <a:latin typeface="Helvetica"/>
              </a:rPr>
              <a:t>Beta–Bernoulli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— a prior on the overall network density.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The Bernoulli prior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6002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 dirty="0">
                <a:solidFill>
                  <a:srgbClr val="203864"/>
                </a:solidFill>
                <a:latin typeface="Helvetica"/>
              </a:rPr>
              <a:t>Each edge is included independently with a fixed probability </a:t>
            </a:r>
            <a:r>
              <a:rPr sz="2600" b="1" dirty="0">
                <a:solidFill>
                  <a:srgbClr val="203864"/>
                </a:solidFill>
                <a:latin typeface="Helvetica"/>
              </a:rPr>
              <a:t>π</a:t>
            </a:r>
            <a:r>
              <a:rPr sz="2600" b="0" dirty="0">
                <a:solidFill>
                  <a:srgbClr val="203864"/>
                </a:solidFill>
                <a:latin typeface="Helvetica"/>
              </a:rPr>
              <a:t> (default π = 0.5).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 dirty="0">
                <a:solidFill>
                  <a:srgbClr val="203864"/>
                </a:solidFill>
                <a:latin typeface="Helvetica"/>
              </a:rPr>
              <a:t>With π = 0.5 every network structure is equally likely a priori.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 dirty="0">
                <a:solidFill>
                  <a:srgbClr val="203864"/>
                </a:solidFill>
                <a:latin typeface="Helvetica"/>
              </a:rPr>
              <a:t>But the </a:t>
            </a:r>
            <a:r>
              <a:rPr sz="2600" b="1" dirty="0">
                <a:solidFill>
                  <a:srgbClr val="203864"/>
                </a:solidFill>
                <a:latin typeface="Helvetica"/>
              </a:rPr>
              <a:t>density</a:t>
            </a:r>
            <a:r>
              <a:rPr sz="2600" b="0" dirty="0">
                <a:solidFill>
                  <a:srgbClr val="203864"/>
                </a:solidFill>
                <a:latin typeface="Helvetica"/>
              </a:rPr>
              <a:t> is then binomial: most prior mass sits near half the edges, so very sparse or very dense networks are unlikely.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000981-74E3-F429-8F79-AB7829E5A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4288407"/>
            <a:ext cx="3739896" cy="2067943"/>
          </a:xfrm>
          <a:prstGeom prst="rect">
            <a:avLst/>
          </a:prstGeom>
        </p:spPr>
      </p:pic>
      <p:pic>
        <p:nvPicPr>
          <p:cNvPr id="10" name="Picture 9" descr="bern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389120"/>
            <a:ext cx="60350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The Beta–Bernoulli prior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600200"/>
            <a:ext cx="1088136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 dirty="0">
                <a:solidFill>
                  <a:srgbClr val="203864"/>
                </a:solidFill>
                <a:latin typeface="Helvetica"/>
              </a:rPr>
              <a:t>Instead of fixing π, place a </a:t>
            </a:r>
            <a:r>
              <a:rPr sz="2600" b="1" dirty="0">
                <a:solidFill>
                  <a:srgbClr val="203864"/>
                </a:solidFill>
                <a:latin typeface="Helvetica"/>
              </a:rPr>
              <a:t>Beta(α, β)</a:t>
            </a:r>
            <a:r>
              <a:rPr sz="2600" b="0" dirty="0">
                <a:solidFill>
                  <a:srgbClr val="203864"/>
                </a:solidFill>
                <a:latin typeface="Helvetica"/>
              </a:rPr>
              <a:t> prior on it</a:t>
            </a:r>
            <a:endParaRPr lang="en-US" sz="2600" b="0" dirty="0">
              <a:solidFill>
                <a:srgbClr val="203864"/>
              </a:solidFill>
              <a:latin typeface="Helvetica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1" dirty="0">
                <a:solidFill>
                  <a:srgbClr val="203864"/>
                </a:solidFill>
                <a:latin typeface="Helvetica"/>
              </a:rPr>
              <a:t>Beta(1, 1)</a:t>
            </a:r>
            <a:r>
              <a:rPr sz="2600" b="0" dirty="0">
                <a:solidFill>
                  <a:srgbClr val="203864"/>
                </a:solidFill>
                <a:latin typeface="Helvetica"/>
              </a:rPr>
              <a:t> makes every density equally likely (uniform over the number of edges).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 dirty="0">
                <a:solidFill>
                  <a:srgbClr val="203864"/>
                </a:solidFill>
                <a:latin typeface="Helvetica"/>
              </a:rPr>
              <a:t>This automatically </a:t>
            </a:r>
            <a:r>
              <a:rPr sz="2600" b="1" dirty="0">
                <a:solidFill>
                  <a:srgbClr val="203864"/>
                </a:solidFill>
                <a:latin typeface="Helvetica"/>
              </a:rPr>
              <a:t>corrects for multiple testing</a:t>
            </a:r>
            <a:r>
              <a:rPr lang="mk-MK" sz="2600" b="1" dirty="0">
                <a:solidFill>
                  <a:srgbClr val="203864"/>
                </a:solidFill>
                <a:latin typeface="Helvetica"/>
              </a:rPr>
              <a:t>.</a:t>
            </a:r>
            <a:endParaRPr sz="2600" b="0" dirty="0">
              <a:solidFill>
                <a:srgbClr val="203864"/>
              </a:solidFill>
              <a:latin typeface="Helvetica"/>
            </a:endParaRPr>
          </a:p>
        </p:txBody>
      </p:sp>
      <p:pic>
        <p:nvPicPr>
          <p:cNvPr id="3" name="Picture 2" descr="A group of numbers and circles&#10;&#10;AI-generated content may be incorrect.">
            <a:extLst>
              <a:ext uri="{FF2B5EF4-FFF2-40B4-BE49-F238E27FC236}">
                <a16:creationId xmlns:a16="http://schemas.microsoft.com/office/drawing/2014/main" id="{CE382F8E-73B6-13A7-CEEF-ABE01A7179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8807" y="4389120"/>
            <a:ext cx="3638258" cy="1967230"/>
          </a:xfrm>
          <a:prstGeom prst="rect">
            <a:avLst/>
          </a:prstGeom>
        </p:spPr>
      </p:pic>
      <p:pic>
        <p:nvPicPr>
          <p:cNvPr id="8" name="Picture 7" descr="betabern_den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935" y="4389120"/>
            <a:ext cx="603504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What they cannot express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9202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Neither prior can say that the variables form </a:t>
            </a:r>
            <a:r>
              <a:rPr sz="3000" b="1">
                <a:solidFill>
                  <a:srgbClr val="203864"/>
                </a:solidFill>
                <a:latin typeface="Helvetica"/>
              </a:rPr>
              <a:t>clusters</a:t>
            </a:r>
            <a:r>
              <a:rPr sz="3000" b="0">
                <a:solidFill>
                  <a:srgbClr val="203864"/>
                </a:solidFill>
                <a:latin typeface="Helvetica"/>
              </a:rPr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Yet clustering is exactly what many psychological theories predict.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Clustering in psychological networks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Intelligence, personality, and psychopathology all assume variables group into </a:t>
            </a:r>
            <a:r>
              <a:rPr sz="2800" b="1">
                <a:solidFill>
                  <a:srgbClr val="203864"/>
                </a:solidFill>
                <a:latin typeface="Helvetica"/>
              </a:rPr>
              <a:t>clusters</a:t>
            </a:r>
            <a:r>
              <a:rPr sz="2800" b="0">
                <a:solidFill>
                  <a:srgbClr val="203864"/>
                </a:solidFill>
                <a:latin typeface="Helvetica"/>
              </a:rPr>
              <a:t> (communities).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Connections are </a:t>
            </a:r>
            <a:r>
              <a:rPr sz="2800" b="1">
                <a:solidFill>
                  <a:srgbClr val="203864"/>
                </a:solidFill>
                <a:latin typeface="Helvetica"/>
              </a:rPr>
              <a:t>dense within</a:t>
            </a:r>
            <a:r>
              <a:rPr sz="2800" b="0">
                <a:solidFill>
                  <a:srgbClr val="203864"/>
                </a:solidFill>
                <a:latin typeface="Helvetica"/>
              </a:rPr>
              <a:t> a cluster and </a:t>
            </a:r>
            <a:r>
              <a:rPr sz="2800" b="1">
                <a:solidFill>
                  <a:srgbClr val="203864"/>
                </a:solidFill>
                <a:latin typeface="Helvetica"/>
              </a:rPr>
              <a:t>sparse between</a:t>
            </a:r>
            <a:r>
              <a:rPr sz="2800" b="0">
                <a:solidFill>
                  <a:srgbClr val="203864"/>
                </a:solidFill>
                <a:latin typeface="Helvetica"/>
              </a:rPr>
              <a:t> clusters — sometimes linked by a few bridge nodes.</a:t>
            </a:r>
          </a:p>
        </p:txBody>
      </p:sp>
      <p:pic>
        <p:nvPicPr>
          <p:cNvPr id="8" name="Picture 7" descr="net_clus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4663440" cy="3873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What is a cluster?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A </a:t>
            </a:r>
            <a:r>
              <a:rPr sz="2800" b="1">
                <a:solidFill>
                  <a:srgbClr val="203864"/>
                </a:solidFill>
                <a:latin typeface="Helvetica"/>
              </a:rPr>
              <a:t>cluster</a:t>
            </a:r>
            <a:r>
              <a:rPr sz="2800" b="0">
                <a:solidFill>
                  <a:srgbClr val="203864"/>
                </a:solidFill>
                <a:latin typeface="Helvetica"/>
              </a:rPr>
              <a:t> (block / community) is a set of nodes that are more densely connected to each other than to the rest of the network.</a:t>
            </a:r>
          </a:p>
        </p:txBody>
      </p:sp>
      <p:pic>
        <p:nvPicPr>
          <p:cNvPr id="8" name="Picture 7" descr="net_clus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4663440" cy="38730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Two ways to find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1" dirty="0">
                <a:solidFill>
                  <a:srgbClr val="203864"/>
                </a:solidFill>
                <a:latin typeface="Helvetica"/>
              </a:rPr>
              <a:t>Post-hoc: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first estimate the network, then run a community-detection algorithm on it (e.g. EGA).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1" dirty="0">
                <a:solidFill>
                  <a:srgbClr val="203864"/>
                </a:solidFill>
                <a:latin typeface="Helvetica"/>
              </a:rPr>
              <a:t>Model-based: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build the clustering assumption into the prior itself </a:t>
            </a:r>
            <a:r>
              <a:rPr lang="en-US" sz="3000" dirty="0">
                <a:solidFill>
                  <a:srgbClr val="203864"/>
                </a:solidFill>
                <a:latin typeface="Helvetica"/>
              </a:rPr>
              <a:t>and 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then estimate and test it.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The Stochastic Block Model takes the second route.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The Stochastic Block Model (SBM) prior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Put the clustering assumption directly into </a:t>
            </a:r>
            <a:r>
              <a:rPr sz="2800" b="1">
                <a:solidFill>
                  <a:srgbClr val="203864"/>
                </a:solidFill>
                <a:latin typeface="Helvetica"/>
              </a:rPr>
              <a:t>p(G)</a:t>
            </a:r>
            <a:r>
              <a:rPr sz="2800" b="0">
                <a:solidFill>
                  <a:srgbClr val="203864"/>
                </a:solidFill>
                <a:latin typeface="Helvetica"/>
              </a:rPr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Each node belongs to one of </a:t>
            </a:r>
            <a:r>
              <a:rPr sz="2800" b="1">
                <a:solidFill>
                  <a:srgbClr val="203864"/>
                </a:solidFill>
                <a:latin typeface="Helvetica"/>
              </a:rPr>
              <a:t>B latent blocks</a:t>
            </a:r>
            <a:r>
              <a:rPr sz="2800" b="0">
                <a:solidFill>
                  <a:srgbClr val="203864"/>
                </a:solidFill>
                <a:latin typeface="Helvetica"/>
              </a:rPr>
              <a:t>; the label of node i is zᵢ.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The probability of an edge depends only on the blocks of the two nodes:</a:t>
            </a:r>
          </a:p>
        </p:txBody>
      </p:sp>
      <p:pic>
        <p:nvPicPr>
          <p:cNvPr id="8" name="Picture 7" descr="eq_sbm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4892040"/>
            <a:ext cx="5120640" cy="5861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865504-4B32-6E88-493A-E48E3FA52C1A}"/>
              </a:ext>
            </a:extLst>
          </p:cNvPr>
          <p:cNvSpPr txBox="1"/>
          <p:nvPr/>
        </p:nvSpPr>
        <p:spPr>
          <a:xfrm>
            <a:off x="256032" y="6260592"/>
            <a:ext cx="9863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Sekulovski, N., Arena, G., 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Haslbeck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, J. M. B., Huth, K. B. S., Friel, N., &amp; Marsman, M. (2025). A stochastic block prior for clustering in graphical models. 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PsyArXiv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.</a:t>
            </a:r>
          </a:p>
          <a:p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 https://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doi.org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/10.31234/</a:t>
            </a:r>
            <a:r>
              <a:rPr lang="en-US" sz="1100" dirty="0" err="1">
                <a:solidFill>
                  <a:schemeClr val="bg1">
                    <a:lumMod val="65000"/>
                  </a:schemeClr>
                </a:solidFill>
              </a:rPr>
              <a:t>osf.io</a:t>
            </a:r>
            <a:r>
              <a:rPr lang="en-US" sz="1100" dirty="0">
                <a:solidFill>
                  <a:schemeClr val="bg1">
                    <a:lumMod val="65000"/>
                  </a:schemeClr>
                </a:solidFill>
              </a:rPr>
              <a:t>/29p3m_v3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Dense within, sparse between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37360"/>
            <a:ext cx="1088136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Two separate 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Beta–Bernoulli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priors on edge inclusion: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within a block — edges are </a:t>
            </a:r>
            <a:r>
              <a:rPr lang="en-US" sz="2800" b="0" dirty="0">
                <a:solidFill>
                  <a:srgbClr val="203864"/>
                </a:solidFill>
                <a:latin typeface="Helvetica"/>
              </a:rPr>
              <a:t>more 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likely;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between blocks — edges are</a:t>
            </a:r>
            <a:r>
              <a:rPr lang="en-US" sz="2800" b="0" dirty="0">
                <a:solidFill>
                  <a:srgbClr val="203864"/>
                </a:solidFill>
                <a:latin typeface="Helvetica"/>
              </a:rPr>
              <a:t> less 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likely.</a:t>
            </a:r>
          </a:p>
        </p:txBody>
      </p:sp>
      <p:pic>
        <p:nvPicPr>
          <p:cNvPr id="8" name="Picture 7" descr="beta_within_betw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327" y="3327400"/>
            <a:ext cx="6949440" cy="3394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 dirty="0">
                <a:solidFill>
                  <a:srgbClr val="203864"/>
                </a:solidFill>
                <a:latin typeface="Helvetica"/>
              </a:rPr>
              <a:t>The SBM </a:t>
            </a:r>
            <a:r>
              <a:rPr sz="4000" b="1" dirty="0">
                <a:solidFill>
                  <a:srgbClr val="203864"/>
                </a:solidFill>
                <a:latin typeface="Helvetica"/>
              </a:rPr>
              <a:t>generalizes</a:t>
            </a:r>
            <a:r>
              <a:rPr sz="4000" b="0" dirty="0">
                <a:solidFill>
                  <a:srgbClr val="203864"/>
                </a:solidFill>
                <a:latin typeface="Helvetica"/>
              </a:rPr>
              <a:t> the</a:t>
            </a:r>
            <a:r>
              <a:rPr lang="en-US" sz="4000" dirty="0">
                <a:solidFill>
                  <a:srgbClr val="203864"/>
                </a:solidFill>
                <a:latin typeface="Helvetica"/>
              </a:rPr>
              <a:t> Beta-Bernoulli</a:t>
            </a:r>
            <a:endParaRPr sz="4000" b="0" dirty="0">
              <a:solidFill>
                <a:srgbClr val="203864"/>
              </a:solidFill>
              <a:latin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1088136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With a single block (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B = 1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), every edge is within-cluster, so the SBM prior is exactly the Beta–Bernoulli prior.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With B &gt; 1 it adds the possibility of multiple clusters</a:t>
            </a:r>
          </a:p>
        </p:txBody>
      </p:sp>
      <p:pic>
        <p:nvPicPr>
          <p:cNvPr id="8" name="Picture 7" descr="eq_redu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367" y="4572000"/>
            <a:ext cx="7680960" cy="49008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b="0" dirty="0">
                <a:solidFill>
                  <a:srgbClr val="203864"/>
                </a:solidFill>
                <a:latin typeface="Helvetica"/>
              </a:rPr>
              <a:t>The number of clusters B</a:t>
            </a:r>
            <a:endParaRPr sz="4000" b="0" dirty="0">
              <a:solidFill>
                <a:srgbClr val="203864"/>
              </a:solidFill>
              <a:latin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108813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Usually we do not know the </a:t>
            </a:r>
            <a:r>
              <a:rPr lang="en-US" sz="2800" dirty="0">
                <a:solidFill>
                  <a:srgbClr val="203864"/>
                </a:solidFill>
                <a:latin typeface="Helvetica"/>
              </a:rPr>
              <a:t>number of clusters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in advance.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So the block labels 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z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and the number of blocks 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B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become parameters, estimated from the data.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We place a prior on B (a truncated Poisson):</a:t>
            </a:r>
          </a:p>
        </p:txBody>
      </p:sp>
      <p:pic>
        <p:nvPicPr>
          <p:cNvPr id="8" name="Picture 7" descr="eq_Bp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967" y="4846320"/>
            <a:ext cx="4937760" cy="4914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 dirty="0">
                <a:solidFill>
                  <a:srgbClr val="203864"/>
                </a:solidFill>
                <a:latin typeface="Helvetica"/>
              </a:rPr>
              <a:t>Hyperparameter 1: how many clusters?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108813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1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is the rate of the truncated Poisson on B: it controls the expected number of clusters a priori.</a:t>
            </a:r>
          </a:p>
        </p:txBody>
      </p:sp>
      <p:pic>
        <p:nvPicPr>
          <p:cNvPr id="8" name="Picture 7" descr="lambda_pois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3604888"/>
            <a:ext cx="7680960" cy="32531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03864"/>
                </a:solidFill>
                <a:latin typeface="Helvetica"/>
              </a:rPr>
              <a:t>Hyperparameter 1: how many clusters?</a:t>
            </a:r>
            <a:endParaRPr sz="4000" b="0" dirty="0">
              <a:solidFill>
                <a:srgbClr val="203864"/>
              </a:solidFill>
              <a:latin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691640"/>
            <a:ext cx="10881360" cy="37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is not exactly the expected number of clusters, but tracks it closely: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= 1 → ~1 cluster (default)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= 1.59 → ~2 clusters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= 2.82 → ~3 clusters</a:t>
            </a:r>
          </a:p>
          <a:p>
            <a:pPr lvl="1">
              <a:spcBef>
                <a:spcPts val="0"/>
              </a:spcBef>
              <a:spcAft>
                <a:spcPts val="1000"/>
              </a:spcAft>
            </a:pP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= 3.92 → ~4 clusters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For </a:t>
            </a:r>
            <a:r>
              <a:rPr lang="en-US" sz="2800" b="0" dirty="0">
                <a:solidFill>
                  <a:srgbClr val="203864"/>
                </a:solidFill>
                <a:latin typeface="Helvetica"/>
              </a:rPr>
              <a:t>5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or more, set </a:t>
            </a:r>
            <a:r>
              <a:rPr sz="2800" b="0" dirty="0" err="1">
                <a:solidFill>
                  <a:srgbClr val="203864"/>
                </a:solidFill>
                <a:latin typeface="Helvetica"/>
              </a:rPr>
              <a:t>λ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to the expected number.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Hyperparameter 2: within / between density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A Beta prior for 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within-block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edges and a separate Beta prior for </a:t>
            </a:r>
            <a:r>
              <a:rPr sz="2800" b="1" dirty="0">
                <a:solidFill>
                  <a:srgbClr val="203864"/>
                </a:solidFill>
                <a:latin typeface="Helvetica"/>
              </a:rPr>
              <a:t>between-block</a:t>
            </a:r>
            <a:r>
              <a:rPr sz="2800" b="0" dirty="0">
                <a:solidFill>
                  <a:srgbClr val="203864"/>
                </a:solidFill>
                <a:latin typeface="Helvetica"/>
              </a:rPr>
              <a:t> edges.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Make within-block inclusion lean toward 1 and between-block lean toward 0 to encode dense-within, sparse-between.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 dirty="0">
                <a:solidFill>
                  <a:srgbClr val="203864"/>
                </a:solidFill>
                <a:latin typeface="Helvetica"/>
              </a:rPr>
              <a:t>Defaults are uniform, Beta(1, 1), for both.</a:t>
            </a:r>
          </a:p>
        </p:txBody>
      </p:sp>
      <p:pic>
        <p:nvPicPr>
          <p:cNvPr id="2" name="Picture 1" descr="beta_within_between.png">
            <a:extLst>
              <a:ext uri="{FF2B5EF4-FFF2-40B4-BE49-F238E27FC236}">
                <a16:creationId xmlns:a16="http://schemas.microsoft.com/office/drawing/2014/main" id="{667E3A6A-6E33-ECA8-CBDF-1F0D05AC7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4828" y="4380453"/>
            <a:ext cx="4793292" cy="234102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 dirty="0">
                <a:solidFill>
                  <a:srgbClr val="203864"/>
                </a:solidFill>
                <a:latin typeface="Helvetica"/>
              </a:rPr>
              <a:t>Hyperparameter 3: cluster-size balance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A 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Dirichlet(</a:t>
            </a:r>
            <a:r>
              <a:rPr sz="3000" b="1" dirty="0" err="1">
                <a:solidFill>
                  <a:srgbClr val="203864"/>
                </a:solidFill>
                <a:latin typeface="Helvetica"/>
              </a:rPr>
              <a:t>ε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)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prior controls how evenly nodes spread across clusters.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Large </a:t>
            </a:r>
            <a:r>
              <a:rPr sz="3000" b="0" dirty="0" err="1">
                <a:solidFill>
                  <a:srgbClr val="203864"/>
                </a:solidFill>
                <a:latin typeface="Helvetica"/>
              </a:rPr>
              <a:t>ε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→ similar-sized clusters; small </a:t>
            </a:r>
            <a:r>
              <a:rPr sz="3000" b="0" dirty="0" err="1">
                <a:solidFill>
                  <a:srgbClr val="203864"/>
                </a:solidFill>
                <a:latin typeface="Helvetica"/>
              </a:rPr>
              <a:t>ε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→ some large, some tiny.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Default </a:t>
            </a:r>
            <a:r>
              <a:rPr sz="3000" b="0" dirty="0" err="1">
                <a:solidFill>
                  <a:srgbClr val="203864"/>
                </a:solidFill>
                <a:latin typeface="Helvetica"/>
              </a:rPr>
              <a:t>ε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= 1 is neutral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From prior to clustering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With the SBM prior, clustering emerges during estimation. We can now: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estimate the </a:t>
            </a:r>
            <a:r>
              <a:rPr sz="3000" b="1">
                <a:solidFill>
                  <a:srgbClr val="203864"/>
                </a:solidFill>
                <a:latin typeface="Helvetica"/>
              </a:rPr>
              <a:t>number of clusters</a:t>
            </a:r>
            <a:r>
              <a:rPr sz="3000" b="0">
                <a:solidFill>
                  <a:srgbClr val="203864"/>
                </a:solidFill>
                <a:latin typeface="Helvetica"/>
              </a:rPr>
              <a:t>,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3000" b="1">
                <a:solidFill>
                  <a:srgbClr val="203864"/>
                </a:solidFill>
                <a:latin typeface="Helvetica"/>
              </a:rPr>
              <a:t>test</a:t>
            </a:r>
            <a:r>
              <a:rPr sz="3000" b="0">
                <a:solidFill>
                  <a:srgbClr val="203864"/>
                </a:solidFill>
                <a:latin typeface="Helvetica"/>
              </a:rPr>
              <a:t> whether there is clustering at all,</a:t>
            </a:r>
          </a:p>
          <a:p>
            <a:pPr lvl="1">
              <a:spcBef>
                <a:spcPts val="0"/>
              </a:spcBef>
              <a:spcAft>
                <a:spcPts val="1200"/>
              </a:spcAft>
            </a:pPr>
            <a:r>
              <a:rPr sz="3000" b="0">
                <a:solidFill>
                  <a:srgbClr val="203864"/>
                </a:solidFill>
                <a:latin typeface="Helvetica"/>
              </a:rPr>
              <a:t>estimate </a:t>
            </a:r>
            <a:r>
              <a:rPr sz="3000" b="1">
                <a:solidFill>
                  <a:srgbClr val="203864"/>
                </a:solidFill>
                <a:latin typeface="Helvetica"/>
              </a:rPr>
              <a:t>which nodes</a:t>
            </a:r>
            <a:r>
              <a:rPr sz="3000" b="0">
                <a:solidFill>
                  <a:srgbClr val="203864"/>
                </a:solidFill>
                <a:latin typeface="Helvetica"/>
              </a:rPr>
              <a:t> cluster together.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Output 1: posterior over the number of clusters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22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3736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How many clusters does the data support? Here, most posterior mass is on </a:t>
            </a:r>
            <a:r>
              <a:rPr sz="2800" b="1">
                <a:solidFill>
                  <a:srgbClr val="203864"/>
                </a:solidFill>
                <a:latin typeface="Helvetica"/>
              </a:rPr>
              <a:t>B = 2</a:t>
            </a:r>
            <a:r>
              <a:rPr sz="2800" b="0">
                <a:solidFill>
                  <a:srgbClr val="203864"/>
                </a:solidFill>
                <a:latin typeface="Helvetica"/>
              </a:rPr>
              <a:t>.</a:t>
            </a:r>
          </a:p>
        </p:txBody>
      </p:sp>
      <p:pic>
        <p:nvPicPr>
          <p:cNvPr id="8" name="Picture 7" descr="post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207" y="2834640"/>
            <a:ext cx="566928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Output 2: testing for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691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The </a:t>
            </a:r>
            <a:r>
              <a:rPr sz="2800" b="1">
                <a:solidFill>
                  <a:srgbClr val="203864"/>
                </a:solidFill>
                <a:latin typeface="Helvetica"/>
              </a:rPr>
              <a:t>clustering Bayes factor</a:t>
            </a:r>
            <a:r>
              <a:rPr sz="2800" b="0">
                <a:solidFill>
                  <a:srgbClr val="203864"/>
                </a:solidFill>
                <a:latin typeface="Helvetica"/>
              </a:rPr>
              <a:t> compares two hypotheses:</a:t>
            </a:r>
          </a:p>
        </p:txBody>
      </p:sp>
      <p:pic>
        <p:nvPicPr>
          <p:cNvPr id="8" name="Picture 7" descr="eq_hy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2743200"/>
            <a:ext cx="10241280" cy="530505"/>
          </a:xfrm>
          <a:prstGeom prst="rect">
            <a:avLst/>
          </a:prstGeom>
        </p:spPr>
      </p:pic>
      <p:pic>
        <p:nvPicPr>
          <p:cNvPr id="9" name="Picture 8" descr="eq_b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7" y="3931920"/>
            <a:ext cx="4937760" cy="100979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Output 2: testing for clustering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24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1" dirty="0">
                <a:solidFill>
                  <a:srgbClr val="203864"/>
                </a:solidFill>
                <a:latin typeface="Helvetica"/>
              </a:rPr>
              <a:t>BF &gt; 1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→ evidence for clustering; 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BF &lt; 1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→ evidence against.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We can also compare two specific counts, e.g. 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B = 2 vs B = 3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(a point </a:t>
            </a:r>
            <a:r>
              <a:rPr lang="en-US" sz="3000" b="0" dirty="0">
                <a:solidFill>
                  <a:srgbClr val="203864"/>
                </a:solidFill>
                <a:latin typeface="Helvetica"/>
              </a:rPr>
              <a:t>hypotheses 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Bayes factor).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Useful when theory predicts a particular number of clusters.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Output 3: which nodes cluster together?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25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5852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Each MCMC iteration assigns nodes to blocks.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We summarize with the posterior </a:t>
            </a:r>
            <a:r>
              <a:rPr sz="2800" b="1">
                <a:solidFill>
                  <a:srgbClr val="203864"/>
                </a:solidFill>
                <a:latin typeface="Helvetica"/>
              </a:rPr>
              <a:t>mode</a:t>
            </a:r>
            <a:r>
              <a:rPr sz="2800" b="0">
                <a:solidFill>
                  <a:srgbClr val="203864"/>
                </a:solidFill>
                <a:latin typeface="Helvetica"/>
              </a:rPr>
              <a:t> and posterior </a:t>
            </a:r>
            <a:r>
              <a:rPr sz="2800" b="1">
                <a:solidFill>
                  <a:srgbClr val="203864"/>
                </a:solidFill>
                <a:latin typeface="Helvetica"/>
              </a:rPr>
              <a:t>mean</a:t>
            </a:r>
            <a:r>
              <a:rPr sz="2800" b="0">
                <a:solidFill>
                  <a:srgbClr val="203864"/>
                </a:solidFill>
                <a:latin typeface="Helvetica"/>
              </a:rPr>
              <a:t> allocation.</a:t>
            </a:r>
          </a:p>
        </p:txBody>
      </p:sp>
      <p:pic>
        <p:nvPicPr>
          <p:cNvPr id="8" name="Picture 7" descr="net_cluste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83080"/>
            <a:ext cx="4663440" cy="387302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Output 3: the co-clustering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78308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203864"/>
                </a:solidFill>
                <a:latin typeface="Helvetica"/>
              </a:rPr>
              <a:t>For each pair of nodes: the proportion of iterations they shared a cluster.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600" b="0">
                <a:solidFill>
                  <a:srgbClr val="203864"/>
                </a:solidFill>
                <a:latin typeface="Helvetica"/>
              </a:rPr>
              <a:t>Clear blocks = well-supported clusters; diffuse rows = </a:t>
            </a:r>
            <a:r>
              <a:rPr sz="2600" b="1">
                <a:solidFill>
                  <a:srgbClr val="203864"/>
                </a:solidFill>
                <a:latin typeface="Helvetica"/>
              </a:rPr>
              <a:t>unstable</a:t>
            </a:r>
            <a:r>
              <a:rPr sz="2600" b="0">
                <a:solidFill>
                  <a:srgbClr val="203864"/>
                </a:solidFill>
                <a:latin typeface="Helvetica"/>
              </a:rPr>
              <a:t> nodes (e.g. node 5).</a:t>
            </a:r>
          </a:p>
        </p:txBody>
      </p:sp>
      <p:pic>
        <p:nvPicPr>
          <p:cNvPr id="8" name="Picture 7" descr="co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4754880" cy="404605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Take-home: clustering as a testable hypothesis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27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The SBM prior turns a substantive theory </a:t>
            </a:r>
            <a:r>
              <a:rPr lang="en-US" sz="3000" dirty="0">
                <a:solidFill>
                  <a:srgbClr val="203864"/>
                </a:solidFill>
                <a:latin typeface="Helvetica"/>
              </a:rPr>
              <a:t>(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variables form clusters</a:t>
            </a:r>
            <a:r>
              <a:rPr lang="en-US" sz="3000" b="0" dirty="0">
                <a:solidFill>
                  <a:srgbClr val="203864"/>
                </a:solidFill>
                <a:latin typeface="Helvetica"/>
              </a:rPr>
              <a:t>)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into part of the statistical model.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3000" b="0" dirty="0">
                <a:solidFill>
                  <a:srgbClr val="203864"/>
                </a:solidFill>
                <a:latin typeface="Helvetica"/>
              </a:rPr>
              <a:t>We can 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estimate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the clusters and </a:t>
            </a:r>
            <a:r>
              <a:rPr sz="3000" b="1" dirty="0">
                <a:solidFill>
                  <a:srgbClr val="203864"/>
                </a:solidFill>
                <a:latin typeface="Helvetica"/>
              </a:rPr>
              <a:t>test</a:t>
            </a:r>
            <a:r>
              <a:rPr sz="3000" b="0" dirty="0">
                <a:solidFill>
                  <a:srgbClr val="203864"/>
                </a:solidFill>
                <a:latin typeface="Helvetica"/>
              </a:rPr>
              <a:t> whether they exist, not just detect them post-hoc.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A8CFD91-B243-2D30-2072-EF47E778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783" y="365125"/>
            <a:ext cx="11155017" cy="1325563"/>
          </a:xfrm>
        </p:spPr>
        <p:txBody>
          <a:bodyPr>
            <a:normAutofit/>
          </a:bodyPr>
          <a:lstStyle/>
          <a:p>
            <a:r>
              <a:rPr sz="4000" b="0">
                <a:solidFill>
                  <a:srgbClr val="203864"/>
                </a:solidFill>
                <a:latin typeface="Helvetica"/>
              </a:rPr>
              <a:t>Bonus: where do the hyperparameters come from?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2DFA3-BBD7-0031-2FCC-3F8336AF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30936" y="18288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Choosing λ and the Beta shapes can be hard.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Recent work explores using </a:t>
            </a:r>
            <a:r>
              <a:rPr sz="2800" b="1">
                <a:solidFill>
                  <a:srgbClr val="203864"/>
                </a:solidFill>
                <a:latin typeface="Helvetica"/>
              </a:rPr>
              <a:t>large language models</a:t>
            </a:r>
            <a:r>
              <a:rPr sz="2800" b="0">
                <a:solidFill>
                  <a:srgbClr val="203864"/>
                </a:solidFill>
                <a:latin typeface="Helvetica"/>
              </a:rPr>
              <a:t> to elicit these priors from a description of the items and theory.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2800" b="0">
                <a:solidFill>
                  <a:srgbClr val="203864"/>
                </a:solidFill>
                <a:latin typeface="Helvetica"/>
              </a:rPr>
              <a:t>See: Sekulovski, Waaijers &amp; Arena (2025), LLM-Based Prior Elicitation for Bayesian Graphical Modeling.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9B6C0-5A48-1AF8-E96E-D3AD612C3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29EB523-014D-56E3-3CCB-C87E1D402A9B}"/>
              </a:ext>
            </a:extLst>
          </p:cNvPr>
          <p:cNvGrpSpPr/>
          <p:nvPr/>
        </p:nvGrpSpPr>
        <p:grpSpPr>
          <a:xfrm>
            <a:off x="1880532" y="2294455"/>
            <a:ext cx="8430936" cy="2543521"/>
            <a:chOff x="1558586" y="2294455"/>
            <a:chExt cx="8430936" cy="2543521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9A74E16-5EA7-7620-4403-C883C297F69B}"/>
                </a:ext>
              </a:extLst>
            </p:cNvPr>
            <p:cNvGrpSpPr/>
            <p:nvPr/>
          </p:nvGrpSpPr>
          <p:grpSpPr>
            <a:xfrm>
              <a:off x="4390462" y="2316154"/>
              <a:ext cx="2719014" cy="2521822"/>
              <a:chOff x="4115174" y="2360122"/>
              <a:chExt cx="2719014" cy="2521822"/>
            </a:xfrm>
          </p:grpSpPr>
          <p:pic>
            <p:nvPicPr>
              <p:cNvPr id="24" name="Picture 23" descr="Icon&#10;&#10;Description automatically generated">
                <a:extLst>
                  <a:ext uri="{FF2B5EF4-FFF2-40B4-BE49-F238E27FC236}">
                    <a16:creationId xmlns:a16="http://schemas.microsoft.com/office/drawing/2014/main" id="{94ADCC5A-149C-C5D3-C2FB-42DF3E2EB2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4681" y="2360122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B98DB15-94F4-5E68-7899-2EC9BB1B37C9}"/>
                  </a:ext>
                </a:extLst>
              </p:cNvPr>
              <p:cNvSpPr txBox="1"/>
              <p:nvPr/>
            </p:nvSpPr>
            <p:spPr>
              <a:xfrm>
                <a:off x="4115174" y="4358724"/>
                <a:ext cx="271901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II: Practical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F1B3C6F-B1B9-89DA-46FA-2DDA383819C5}"/>
                </a:ext>
              </a:extLst>
            </p:cNvPr>
            <p:cNvGrpSpPr/>
            <p:nvPr/>
          </p:nvGrpSpPr>
          <p:grpSpPr>
            <a:xfrm>
              <a:off x="7848833" y="2347636"/>
              <a:ext cx="1722664" cy="1506816"/>
              <a:chOff x="8667171" y="2349000"/>
              <a:chExt cx="1722664" cy="1506816"/>
            </a:xfrm>
          </p:grpSpPr>
          <p:pic>
            <p:nvPicPr>
              <p:cNvPr id="20" name="Picture 19" descr="Icon&#10;&#10;Description automatically generated">
                <a:extLst>
                  <a:ext uri="{FF2B5EF4-FFF2-40B4-BE49-F238E27FC236}">
                    <a16:creationId xmlns:a16="http://schemas.microsoft.com/office/drawing/2014/main" id="{965AD1A7-2EBF-E9AE-1EB8-2AE0879BB0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309835" y="2349000"/>
                <a:ext cx="1080000" cy="108000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55E6E1E-1F53-84AB-959C-50ABAD20465C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8667171" y="2595816"/>
                <a:ext cx="858992" cy="1260000"/>
                <a:chOff x="4110393" y="5245072"/>
                <a:chExt cx="680214" cy="1080000"/>
              </a:xfrm>
            </p:grpSpPr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BDFF2D8B-3CBC-6687-F723-D54E0D07FE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r="52401"/>
                <a:stretch/>
              </p:blipFill>
              <p:spPr>
                <a:xfrm>
                  <a:off x="4110393" y="5245072"/>
                  <a:ext cx="514065" cy="1080000"/>
                </a:xfrm>
                <a:prstGeom prst="rect">
                  <a:avLst/>
                </a:prstGeom>
              </p:spPr>
            </p:pic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55B5D94E-5303-2BAF-DAD7-9E22FFEDC6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/>
                <a:srcRect l="48293" t="48040" r="9"/>
                <a:stretch/>
              </p:blipFill>
              <p:spPr>
                <a:xfrm>
                  <a:off x="4244118" y="5775815"/>
                  <a:ext cx="546489" cy="549257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830C6FE-06F7-D3A2-0ACA-3E72C1F6B53F}"/>
                </a:ext>
              </a:extLst>
            </p:cNvPr>
            <p:cNvGrpSpPr/>
            <p:nvPr/>
          </p:nvGrpSpPr>
          <p:grpSpPr>
            <a:xfrm>
              <a:off x="1558586" y="2294455"/>
              <a:ext cx="2355260" cy="2519771"/>
              <a:chOff x="1029505" y="2338423"/>
              <a:chExt cx="2355260" cy="2519771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CA9A09BF-1278-348C-4DB8-028CFB848F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487135" y="2338423"/>
                <a:ext cx="1440000" cy="1440000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5E342E-78E5-0309-7742-6D0123B3D98F}"/>
                  </a:ext>
                </a:extLst>
              </p:cNvPr>
              <p:cNvSpPr txBox="1"/>
              <p:nvPr/>
            </p:nvSpPr>
            <p:spPr>
              <a:xfrm>
                <a:off x="1029505" y="4334974"/>
                <a:ext cx="235526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accent1">
                        <a:lumMod val="50000"/>
                      </a:schemeClr>
                    </a:solidFill>
                    <a:latin typeface="Helvetica" pitchFamily="2" charset="0"/>
                  </a:rPr>
                  <a:t>Part I: Theory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B70912E-0FE6-3BEA-02C5-A09E072B5289}"/>
                </a:ext>
              </a:extLst>
            </p:cNvPr>
            <p:cNvSpPr txBox="1"/>
            <p:nvPr/>
          </p:nvSpPr>
          <p:spPr>
            <a:xfrm>
              <a:off x="7430808" y="4314756"/>
              <a:ext cx="255871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chemeClr val="accent1">
                      <a:lumMod val="50000"/>
                    </a:schemeClr>
                  </a:solidFill>
                  <a:latin typeface="Helvetica" pitchFamily="2" charset="0"/>
                </a:rPr>
                <a:t>Part III: Project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1C95936-30DE-9F43-AADE-C542D24A6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1155959"/>
          </a:xfrm>
        </p:spPr>
        <p:txBody>
          <a:bodyPr>
            <a:noAutofit/>
          </a:bodyPr>
          <a:lstStyle/>
          <a:p>
            <a:r>
              <a:rPr lang="en-NL" sz="4000" dirty="0">
                <a:solidFill>
                  <a:schemeClr val="accent1">
                    <a:lumMod val="50000"/>
                  </a:schemeClr>
                </a:solidFill>
                <a:latin typeface="Helvetica" pitchFamily="2" charset="0"/>
                <a:cs typeface="Times New Roman" panose="02020603050405020304" pitchFamily="18" charset="0"/>
              </a:rPr>
              <a:t>Session setup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0C7B7-44F0-1BD9-98E2-A73E3F7D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8A1BBB-3647-7146-9CE9-E866F85C08B0}" type="slidenum">
              <a:rPr lang="en-US" smtClean="0"/>
              <a:t>29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43ACC7-DA0E-41AA-D528-51A53B1F58E3}"/>
              </a:ext>
            </a:extLst>
          </p:cNvPr>
          <p:cNvSpPr txBox="1"/>
          <p:nvPr/>
        </p:nvSpPr>
        <p:spPr>
          <a:xfrm>
            <a:off x="0" y="6488668"/>
            <a:ext cx="22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0" i="0">
                <a:solidFill>
                  <a:srgbClr val="5F7D95"/>
                </a:solidFill>
                <a:effectLst/>
                <a:latin typeface="Proxima Nova"/>
              </a:rPr>
              <a:t>image: </a:t>
            </a:r>
            <a:r>
              <a:rPr lang="en-GB" b="0" i="0" err="1">
                <a:solidFill>
                  <a:srgbClr val="5F7D95"/>
                </a:solidFill>
                <a:effectLst/>
                <a:latin typeface="Proxima Nova"/>
              </a:rPr>
              <a:t>Flaticon.com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1162DF6-1DA5-5239-FE7C-DBBDD469041C}"/>
              </a:ext>
            </a:extLst>
          </p:cNvPr>
          <p:cNvSpPr/>
          <p:nvPr/>
        </p:nvSpPr>
        <p:spPr>
          <a:xfrm>
            <a:off x="7429631" y="1796788"/>
            <a:ext cx="4275980" cy="3065266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EDFFDD7-2558-01A4-6C96-81C3B182FDCB}"/>
              </a:ext>
            </a:extLst>
          </p:cNvPr>
          <p:cNvSpPr/>
          <p:nvPr/>
        </p:nvSpPr>
        <p:spPr>
          <a:xfrm>
            <a:off x="765749" y="1696755"/>
            <a:ext cx="3820651" cy="3265332"/>
          </a:xfrm>
          <a:prstGeom prst="round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00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853</TotalTime>
  <Words>1162</Words>
  <Application>Microsoft Macintosh PowerPoint</Application>
  <PresentationFormat>Widescreen</PresentationFormat>
  <Paragraphs>147</Paragraphs>
  <Slides>29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Helvetica</vt:lpstr>
      <vt:lpstr>Proxima Nova</vt:lpstr>
      <vt:lpstr>Office Theme</vt:lpstr>
      <vt:lpstr>Bayesian Graphical Modeling </vt:lpstr>
      <vt:lpstr>Setup Today</vt:lpstr>
      <vt:lpstr>Setup Today</vt:lpstr>
      <vt:lpstr>Session setup</vt:lpstr>
      <vt:lpstr>Priors on the network structure</vt:lpstr>
      <vt:lpstr>Two structure priors so far</vt:lpstr>
      <vt:lpstr>The Bernoulli prior</vt:lpstr>
      <vt:lpstr>The Beta–Bernoulli prior</vt:lpstr>
      <vt:lpstr>What they cannot express</vt:lpstr>
      <vt:lpstr>Clustering in psychological networks</vt:lpstr>
      <vt:lpstr>What is a cluster?</vt:lpstr>
      <vt:lpstr>Two ways to find clusters</vt:lpstr>
      <vt:lpstr>The Stochastic Block Model (SBM) prior</vt:lpstr>
      <vt:lpstr>Dense within, sparse between</vt:lpstr>
      <vt:lpstr>The SBM generalizes the Beta-Bernoulli</vt:lpstr>
      <vt:lpstr>The number of clusters B</vt:lpstr>
      <vt:lpstr>Hyperparameter 1: how many clusters?</vt:lpstr>
      <vt:lpstr>Hyperparameter 1: how many clusters?</vt:lpstr>
      <vt:lpstr>Hyperparameter 2: within / between density</vt:lpstr>
      <vt:lpstr>Hyperparameter 3: cluster-size balance</vt:lpstr>
      <vt:lpstr>From prior to clustering analysis</vt:lpstr>
      <vt:lpstr>Output 1: posterior over the number of clusters</vt:lpstr>
      <vt:lpstr>Output 2: testing for clustering</vt:lpstr>
      <vt:lpstr>Output 2: testing for clustering</vt:lpstr>
      <vt:lpstr>Output 3: which nodes cluster together?</vt:lpstr>
      <vt:lpstr>Output 3: the co-clustering matrix</vt:lpstr>
      <vt:lpstr>Take-home: clustering as a testable hypothesis</vt:lpstr>
      <vt:lpstr>Bonus: where do the hyperparameters come from?</vt:lpstr>
      <vt:lpstr>Session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Maarten Marsman</dc:creator>
  <cp:lastModifiedBy>Nikola Sekulovski</cp:lastModifiedBy>
  <cp:revision>12</cp:revision>
  <dcterms:created xsi:type="dcterms:W3CDTF">2023-01-24T10:14:29Z</dcterms:created>
  <dcterms:modified xsi:type="dcterms:W3CDTF">2026-06-26T08:29:23Z</dcterms:modified>
</cp:coreProperties>
</file>