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671" r:id="rId2"/>
    <p:sldId id="660" r:id="rId3"/>
    <p:sldId id="683" r:id="rId4"/>
    <p:sldId id="686" r:id="rId5"/>
    <p:sldId id="689" r:id="rId6"/>
    <p:sldId id="736" r:id="rId7"/>
    <p:sldId id="739" r:id="rId8"/>
    <p:sldId id="738" r:id="rId9"/>
    <p:sldId id="740" r:id="rId10"/>
    <p:sldId id="737" r:id="rId11"/>
    <p:sldId id="692" r:id="rId12"/>
    <p:sldId id="694" r:id="rId13"/>
    <p:sldId id="705" r:id="rId14"/>
    <p:sldId id="695" r:id="rId15"/>
    <p:sldId id="691" r:id="rId16"/>
    <p:sldId id="704" r:id="rId17"/>
    <p:sldId id="732" r:id="rId18"/>
    <p:sldId id="696" r:id="rId19"/>
    <p:sldId id="729" r:id="rId20"/>
    <p:sldId id="730" r:id="rId21"/>
    <p:sldId id="731" r:id="rId22"/>
    <p:sldId id="697" r:id="rId23"/>
    <p:sldId id="734" r:id="rId24"/>
    <p:sldId id="733" r:id="rId25"/>
    <p:sldId id="735" r:id="rId26"/>
    <p:sldId id="741" r:id="rId27"/>
    <p:sldId id="742" r:id="rId28"/>
    <p:sldId id="743" r:id="rId29"/>
    <p:sldId id="744" r:id="rId30"/>
    <p:sldId id="745" r:id="rId31"/>
    <p:sldId id="746" r:id="rId32"/>
    <p:sldId id="747" r:id="rId33"/>
    <p:sldId id="748" r:id="rId34"/>
    <p:sldId id="749" r:id="rId35"/>
    <p:sldId id="750" r:id="rId3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991100"/>
    <a:srgbClr val="F0AD0F"/>
    <a:srgbClr val="150B0A"/>
    <a:srgbClr val="414A60"/>
    <a:srgbClr val="5885A2"/>
    <a:srgbClr val="B96055"/>
    <a:srgbClr val="6397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71"/>
    <p:restoredTop sz="94645"/>
  </p:normalViewPr>
  <p:slideViewPr>
    <p:cSldViewPr snapToGrid="0">
      <p:cViewPr varScale="1">
        <p:scale>
          <a:sx n="102" d="100"/>
          <a:sy n="102" d="100"/>
        </p:scale>
        <p:origin x="200" y="328"/>
      </p:cViewPr>
      <p:guideLst/>
    </p:cSldViewPr>
  </p:slideViewPr>
  <p:outlineViewPr>
    <p:cViewPr>
      <p:scale>
        <a:sx n="33" d="100"/>
        <a:sy n="33" d="100"/>
      </p:scale>
      <p:origin x="0" y="-772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16AE5-1C58-C241-8A46-1377EBE29E69}" type="datetimeFigureOut">
              <a:rPr lang="en-US" smtClean="0"/>
              <a:t>10/4/25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3E1A2-D778-C442-AB48-8F9158297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7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3553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F730-21D4-A8E9-81F2-9B90DD75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10F6B-3191-81BA-B216-EAC50C6E7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FBC7A-64A2-33DB-60B5-A13AE9BAF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C0D8F-EEEC-647A-E120-FA39B3DA7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30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1493C-55C3-C0BF-4617-7B352669E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E49C9-B636-AF6C-3AB1-D815553F5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9FE4-A0D8-F7D6-7DB5-5CD5C283A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82E4B-90F1-9FDD-BE27-DB9452A19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7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C629B-7D59-2360-AC32-C4AA2C267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914E5-C2B4-8B8F-F065-4419D14B5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3E529-7B0F-3B28-EBAC-EC4CB8DF7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A65A8-F9EF-F38A-D580-E5156CCE2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5187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DAF9D-CBF1-2DBE-4CFC-9F6120C66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B21F1-3D1A-B76B-FCBA-A4381918B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D3AFA-3FF1-ED62-54E2-5923950A4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E3D45-90EE-0022-1C2C-E28184182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80125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0798F-CA56-5F53-F698-953051D63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F9E0B-4B3D-B532-0592-A3C1E8269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0AC10-6080-26BF-9A8A-87839D035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CECB3-7600-F036-E073-EBC16FA2B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1376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84A69-F9D3-0D3E-E953-6F742E6FC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85F2F4-A001-5852-4955-D03E1E7ED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ABCE8-38A0-9C6F-AF07-C486B3EDA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53EB9-2010-6EF9-3830-1A6AC10E5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78869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DB1DF-0451-B2DC-2A6C-A7E08C618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69B47F-6AE3-B8D0-121E-12DFBCEAF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26E83A-EFEF-EAC6-0106-69E9D7745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08016-AFCE-D846-5687-A7315FF98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22794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05179-F24F-56BF-EB8D-49B2D9A86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D3E0E-42AA-054C-2D83-58F4C6F94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91FD2-F7D2-C566-81E6-612F335E7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B9720-FC31-A988-4E11-0D57C718FF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35314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81DA9-A979-36A3-19F3-04637C6A2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C0BA3-2990-B375-1133-113C0468B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253C9-CCF1-7B05-A3A0-AD1EE00CC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38977-5F0D-44F9-F3B3-CA4F787EC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737419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5F66C-3BB4-B5EB-A4DC-C916E080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83A14-F6A2-ADA8-2342-88A239AC7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A174A-FD95-BFAA-29C6-167EB0ACA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9E620-AC36-6103-ED54-508040CAD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506405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7B2E-947E-234C-4E5F-ED96F6E78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7CB429-753B-CEE4-378F-702C99247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F0537-F5A8-004A-435E-A35C20C80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C8CB9-E64D-5E7E-81FF-A43B7777F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702519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BFFF5-00A9-EDE7-BA7B-5D427108A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97B94-193A-1CCE-8001-F21DF2C3D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78CC3B-F35D-F69A-0BAD-12F1B4048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E6179-47AC-A012-E914-819EC72D5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074245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35A44-1088-6A3F-37B0-A85FAE7B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2FD52-76DA-9E6E-5FE6-8A6C76166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888CA-3ED4-954A-D902-6F5A78B2D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15269-73EE-3B3D-3A28-92ED03ECA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858949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22EEB-63DF-5AC9-1DB0-3A91D9DCA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58C3A6-CBFB-0F4E-F47F-B187989A4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BF3C8-7F5B-2F9C-5C86-05CE5A298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AE1F6-4A19-9369-EF2F-D8AA0A8EC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697340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B18E1-61A1-E717-CD72-4875C0B9B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32D4B5-AE05-5EA8-F7DC-4CED29363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110C35-0D03-9D19-3DAD-66B651D71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82A5F-B1CC-8E88-6B61-108463C29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23584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63585-2164-CE5A-0F5B-215FC1BEE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A3197-4063-5714-05E6-68C0A576C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717DA-C981-B88E-148F-960F7B53B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B33DA-5176-8708-D30D-49FBD64D1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148079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2B18D-B90F-D0AC-3FEA-55F506B83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C0F3D-FBDF-233F-47A1-F1F691F57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F616F-EA91-E83C-7793-12CB1B1CD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C07FB-C1A9-2559-8300-EBE687455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950115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43C1D-ADBC-EAAA-2B1E-9FD2034B3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73EF2-BEF0-6E30-58F7-4AC9A573A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663F4-4FC4-0AFF-E5EB-6E9837C2E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AE7B8-035B-574E-D356-FC6458A34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664055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98EE6-4114-2534-376E-75F689A8D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8B3A2-7636-6EDD-2419-9D8D955BA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F8172-9BB2-E900-CBFF-BE6C41271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D1A8E-359E-43B7-AD84-C177830C2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994284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9F629-E474-33C4-5821-892E0B2D0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F9C2B-A8E1-9CEB-281B-69DF3F4C4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002465-744F-02B2-D3BA-64946738B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A2D97-7182-E5FB-B74E-4BBA78D33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423280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A277D-9B75-8B24-CD2A-EB27DF94F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C754FF-31B4-DD1E-572F-B82667C07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8C8C2-A4FB-9CDD-02CE-480CB0DD1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AC053-7E1C-F3CC-E272-E059C84B5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3469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CA434-4758-A55D-3AC0-A0BBCBBA8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E9352-3EBB-31C5-368E-66E81CCB8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2981D7-5AEB-A9D7-6552-3DF7AEAEE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D88A3-1A20-57BC-AD7F-EC42F64B6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311347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6E3C5-7913-1D48-75A1-4752BEA09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47D8B-29D7-EEA4-7687-3D67C8089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B8A5CF-4B86-AC44-6A47-AB4E29C7E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CEC6A-C167-C8E2-5AF3-ACA66BF4C6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960970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8D3D8-BD04-A597-AABB-3F966E371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EDB787-5FB7-03E5-E46B-8A5328440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1FE627-30FD-0C67-9063-96182AB5D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FFC63-532F-755E-BE84-5F56D13AE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652888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B49FB-1584-0714-71E3-7FD17FD92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74A4A-92E3-97B2-9BEE-14FE81C46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621EC-A564-6C90-3593-8A7B43490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03E60-AB96-6FFB-E0F4-DBC9F5487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682284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CAD10-927C-8220-9E9D-A2A1B901E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FACD2-5C5E-D307-A1E0-359E7AAA0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3F1D8-FD70-CAAF-E456-4845EDAF9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2F180-B553-E4BB-F6D6-037C47B16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518877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48125-936E-6F55-7407-3CAC12E17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5C690F-9AD8-BA24-6CAB-8AF97DCA8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1B131-8876-D243-D336-6897D370F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AD422-4A06-7866-0451-BBB29A4F5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295482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D0420-0515-C873-2DB0-CB607F2FF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FFEFE-6575-F3FF-BB59-A989A588D4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BDAF4-1B51-7775-AE0E-E72DD794A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22F9A-447A-A12F-48C7-FDC331FB5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343154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78116-CA79-3791-38A5-2BCFE20D3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6A1940-B3D2-B227-1B69-CEC189D74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3906E-852D-A9C2-B9AB-1EC777FC9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32EF8-3B4E-B111-51F8-0B1F89372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30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893545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A0D86-589C-8280-5017-C05CA8A74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0A8A0-F58E-E39E-856F-136E146DB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703EC-96D4-F772-5024-BDCC7AEBC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E61B0-3C5F-4C3D-E053-6B3E6ADEF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31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475944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7893D-E359-FB18-7BD2-B0F69889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26BE2-BAF3-CBD0-7A4B-F7051CEF2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B95002-B23E-33EB-52A5-FDDA89D24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5EDF0-5CF8-A81C-218F-D3758E23C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32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181172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B842E-080E-72EE-2074-66D819F14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7937A-D922-993C-6560-834AD87CB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A9EE7-1526-475F-15BF-DB1100456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75D60-712C-312A-A548-B809246F3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33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04893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28C6C-B372-99C2-66AF-FCABA1B9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DA682-C0E1-6972-58D3-E5C19B123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60E39-8B63-6C4D-2B99-8DF523A71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7BD73-2E9A-B1CB-D9EC-A7207A1CB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34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564273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9D59F-FE50-BCA2-893E-A184940D4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783A7-2BC9-5768-DDBF-150F3FB20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79FE90-2647-D0CF-E082-4399D83FD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049C0-E2D9-A216-9A95-208A3F2EAE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57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790C-213B-055A-ABC5-DA540E8FE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3404D-113B-2085-12BF-7334ED449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E0CE-7A41-C699-1C98-A1D3329B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58D4-D73A-354A-BDA6-EC5840E1F192}" type="datetime1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BC645-56D9-D7AE-AD7D-43F6EA45B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0A53A-0E97-6789-7608-1DF38492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17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606F-5319-118C-C346-ACED9B25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BE4A1-9235-7F62-828E-1420F8B84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FB7A7-EEAA-57C1-E809-CBC5E345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6B5D5-DE28-C440-BDF1-028B6AF1423E}" type="datetime1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648DA-1625-7F64-52E1-1C81ACF1D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F8373-BA8E-FE15-8100-6F40B6E35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2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E0CE9-B8AA-B509-EC25-0F07066D9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5FF76-01C9-4D2B-7315-F396CF90B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01039-91C2-3392-3FAD-E849BAC4D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9A61-D284-0D4A-9DF0-028259DBBB4C}" type="datetime1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1D759-15B8-CA98-7B43-23F52F403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77AAE-C1A1-50C0-8B0E-98BAE52C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0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47E2-4270-E6D9-3C97-50EEA2533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3C5C7-C1E7-E853-6D12-6F37CF5FF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5685-99B4-EC24-7C51-A730541A3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22140-04CC-B153-59BB-B8CDA96BD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90DF-029D-C34D-AD03-BBECC054E3EF}" type="datetime1">
              <a:rPr lang="en-US" smtClean="0"/>
              <a:t>10/4/25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0466F-CD6E-261F-55CE-D99D2921F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F1ED7-3536-E937-7683-62EF893F8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6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6C10-689E-B53C-C9B2-8B0D48D9C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5275C-72E5-19B4-EB4E-05C965DBF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BF714-B679-362A-29CA-87611F9A7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881A5-8F6F-8F26-F257-2D9324296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B3E8C-F438-AF33-CABE-FDE4CCD32E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3E99C9-ADBB-D6C5-6710-156F80C0E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0892-B22B-E34F-96DA-CF8E095B4CCD}" type="datetime1">
              <a:rPr lang="en-US" smtClean="0"/>
              <a:t>10/4/25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84482D-B530-ACDD-B4D6-F87447B13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B4BE94-4996-B4D8-70E6-CF56B96D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11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EF23-59A3-4AF1-402E-0CEA2FDE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C8FC82-42D8-C668-3551-4011D71AD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AC1A6-E63E-3041-AB70-8C1DE95A7079}" type="datetime1">
              <a:rPr lang="en-US" smtClean="0"/>
              <a:t>10/4/25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F9D48-ADE1-3BCC-8ABD-3E1105F23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A5453-6AC0-1872-16B2-FA1FD831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4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0C30D-E9D9-631E-E07B-BE25AEE4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A8405-9D8F-3545-8A13-BD90D474B687}" type="datetime1">
              <a:rPr lang="en-US" smtClean="0"/>
              <a:t>10/4/25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E82AA2-EFCA-4C2E-BAB9-554039FA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083B4-6EE0-AB1C-A540-5867E6E4D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89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DA0E-3330-179B-119F-33D4180FB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E6F33-818D-9F94-101F-4C0EDC229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EBEF7-E15D-2E31-E0BB-B4945C389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6F7F7-812B-AA5E-B5C6-B2D0212E8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4E772-4490-2B47-A10A-C999148E72BF}" type="datetime1">
              <a:rPr lang="en-US" smtClean="0"/>
              <a:t>10/4/25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B7710-37CA-AC83-933A-FAB2217D0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F5BE7-DADC-B30E-31CA-AF2EB700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87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6792-27CC-38C1-501C-473873033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77F787-F7F2-86CC-0823-48FA169E34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004EC-3022-3EED-8891-061D0634E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1FEC4-B6F3-8F84-153B-1C69F2125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B597-AA40-EC49-AFE4-254F62A4BA9C}" type="datetime1">
              <a:rPr lang="en-US" smtClean="0"/>
              <a:t>10/4/25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E0C4A-05B3-167A-9112-9428A177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FD227-4176-9773-21AD-75C880D8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5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A036E-E110-9EEE-A4BA-5C9A7EB58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52D5EC-EEAC-1A7D-7A03-BD0B60143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D3A7B-34D4-3913-EC2B-042F479E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31214-8B4C-4F41-966D-619BE8F1A95B}" type="datetime1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9253B-0A99-38D0-F2D6-0B715DE85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EF35A-5E93-C5F1-4A99-249706F7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68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307819-34DC-B529-70F9-D90F0B5FD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3E8DD7-8CFF-E9B0-939A-9EAD1F42E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9D74-3C85-8B9E-1583-44A1D103C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5F2F0-5D76-B64E-89B5-775814C10729}" type="datetime1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C8DA3-E276-FA75-5BEE-E0B3558BA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BF16-84ED-3C67-51AC-8445C1D5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7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AB9667-5599-6838-AD95-762D8A68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ED55C-C25C-3222-D83C-35CA5FDFB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AF6E-18A7-A70E-05BE-F710BC6B91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0C8BE-E19A-D942-8D04-CEEB89E39449}" type="datetime1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32CB6-3DF0-FD3F-E1EF-A040F0D89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22B07-086B-300E-C8B4-21828A3AD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2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mailto:m.marsman@uva.nl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12" Type="http://schemas.openxmlformats.org/officeDocument/2006/relationships/image" Target="../media/image1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emf"/><Relationship Id="rId11" Type="http://schemas.openxmlformats.org/officeDocument/2006/relationships/image" Target="../media/image23.emf"/><Relationship Id="rId5" Type="http://schemas.openxmlformats.org/officeDocument/2006/relationships/image" Target="../media/image17.emf"/><Relationship Id="rId10" Type="http://schemas.openxmlformats.org/officeDocument/2006/relationships/image" Target="../media/image22.emf"/><Relationship Id="rId4" Type="http://schemas.openxmlformats.org/officeDocument/2006/relationships/image" Target="../media/image16.emf"/><Relationship Id="rId9" Type="http://schemas.openxmlformats.org/officeDocument/2006/relationships/image" Target="../media/image2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13" Type="http://schemas.openxmlformats.org/officeDocument/2006/relationships/image" Target="../media/image25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12" Type="http://schemas.openxmlformats.org/officeDocument/2006/relationships/image" Target="../media/image2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emf"/><Relationship Id="rId11" Type="http://schemas.openxmlformats.org/officeDocument/2006/relationships/image" Target="../media/image23.emf"/><Relationship Id="rId5" Type="http://schemas.openxmlformats.org/officeDocument/2006/relationships/image" Target="../media/image17.emf"/><Relationship Id="rId15" Type="http://schemas.openxmlformats.org/officeDocument/2006/relationships/image" Target="../media/image14.emf"/><Relationship Id="rId10" Type="http://schemas.openxmlformats.org/officeDocument/2006/relationships/image" Target="../media/image22.emf"/><Relationship Id="rId4" Type="http://schemas.openxmlformats.org/officeDocument/2006/relationships/image" Target="../media/image16.emf"/><Relationship Id="rId9" Type="http://schemas.openxmlformats.org/officeDocument/2006/relationships/image" Target="../media/image21.emf"/><Relationship Id="rId14" Type="http://schemas.openxmlformats.org/officeDocument/2006/relationships/image" Target="../media/image26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13" Type="http://schemas.openxmlformats.org/officeDocument/2006/relationships/image" Target="../media/image25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12" Type="http://schemas.openxmlformats.org/officeDocument/2006/relationships/image" Target="../media/image2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emf"/><Relationship Id="rId11" Type="http://schemas.openxmlformats.org/officeDocument/2006/relationships/image" Target="../media/image23.emf"/><Relationship Id="rId5" Type="http://schemas.openxmlformats.org/officeDocument/2006/relationships/image" Target="../media/image17.emf"/><Relationship Id="rId15" Type="http://schemas.openxmlformats.org/officeDocument/2006/relationships/image" Target="../media/image14.emf"/><Relationship Id="rId10" Type="http://schemas.openxmlformats.org/officeDocument/2006/relationships/image" Target="../media/image22.emf"/><Relationship Id="rId4" Type="http://schemas.openxmlformats.org/officeDocument/2006/relationships/image" Target="../media/image16.emf"/><Relationship Id="rId9" Type="http://schemas.openxmlformats.org/officeDocument/2006/relationships/image" Target="../media/image21.emf"/><Relationship Id="rId14" Type="http://schemas.openxmlformats.org/officeDocument/2006/relationships/image" Target="../media/image2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85AC5EF-8EE6-11CC-4874-529A8CF87034}"/>
              </a:ext>
            </a:extLst>
          </p:cNvPr>
          <p:cNvSpPr/>
          <p:nvPr/>
        </p:nvSpPr>
        <p:spPr>
          <a:xfrm>
            <a:off x="-1" y="5165353"/>
            <a:ext cx="12192000" cy="1692647"/>
          </a:xfrm>
          <a:prstGeom prst="rect">
            <a:avLst/>
          </a:prstGeom>
          <a:solidFill>
            <a:srgbClr val="1F376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BBB73-188F-5C45-B8B5-B024412E6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38" y="474840"/>
            <a:ext cx="12192000" cy="1980441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Bayesian Graphical Modeling</a:t>
            </a:r>
            <a:br>
              <a:rPr lang="nl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</a:br>
            <a:endParaRPr lang="en-NL" sz="2700" i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DB2978-95A3-2651-2A14-2F7C747188B4}"/>
              </a:ext>
            </a:extLst>
          </p:cNvPr>
          <p:cNvSpPr txBox="1">
            <a:spLocks/>
          </p:cNvSpPr>
          <p:nvPr/>
        </p:nvSpPr>
        <p:spPr>
          <a:xfrm>
            <a:off x="4355119" y="2472512"/>
            <a:ext cx="3403426" cy="988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2"/>
                </a:solidFill>
                <a:latin typeface="Helvetica" pitchFamily="2" charset="0"/>
                <a:cs typeface="Courier New" panose="02070309020205020404" pitchFamily="49" charset="0"/>
              </a:rPr>
              <a:t>Topological Priors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B0D9AC-8FC8-F504-6D43-9CAFBD7C55B4}"/>
              </a:ext>
            </a:extLst>
          </p:cNvPr>
          <p:cNvSpPr txBox="1"/>
          <p:nvPr/>
        </p:nvSpPr>
        <p:spPr>
          <a:xfrm>
            <a:off x="111338" y="5380672"/>
            <a:ext cx="347316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1" dirty="0">
                <a:solidFill>
                  <a:srgbClr val="1F3764"/>
                </a:solidFill>
                <a:effectLst/>
                <a:latin typeface="Helvetica" pitchFamily="2" charset="0"/>
              </a:rPr>
              <a:t>What is psychometrics? 2025</a:t>
            </a:r>
          </a:p>
          <a:p>
            <a:endParaRPr lang="en-NL" sz="2400" dirty="0">
              <a:solidFill>
                <a:srgbClr val="0563C1"/>
              </a:solidFill>
              <a:latin typeface="Helvetica" pitchFamily="2" charset="0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NL" sz="1800" dirty="0">
                <a:solidFill>
                  <a:srgbClr val="0563C1"/>
                </a:solidFill>
                <a:latin typeface="Helvetica" pitchFamily="2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m.marsman@uva.nl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ayesiangraphicalmodeling.com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AA6765C-78AC-25BD-EE30-6156E5903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387" y="5468592"/>
            <a:ext cx="1165003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C65B14-B799-9A38-6F07-051B43D48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2453" y="5466218"/>
            <a:ext cx="789231" cy="1080000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369B566F-BFE7-B20A-5904-51CEF27B0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470" y="6300725"/>
            <a:ext cx="1573192" cy="45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A green circle with white lines and dots&#10;&#10;AI-generated content may be incorrect.">
            <a:extLst>
              <a:ext uri="{FF2B5EF4-FFF2-40B4-BE49-F238E27FC236}">
                <a16:creationId xmlns:a16="http://schemas.microsoft.com/office/drawing/2014/main" id="{7832DEF9-E8C6-7AC4-066D-4C5344F44D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0867" y="5372877"/>
            <a:ext cx="810690" cy="810690"/>
          </a:xfrm>
          <a:prstGeom prst="rect">
            <a:avLst/>
          </a:prstGeom>
        </p:spPr>
      </p:pic>
      <p:pic>
        <p:nvPicPr>
          <p:cNvPr id="15" name="Picture 2" descr="logo NWO">
            <a:extLst>
              <a:ext uri="{FF2B5EF4-FFF2-40B4-BE49-F238E27FC236}">
                <a16:creationId xmlns:a16="http://schemas.microsoft.com/office/drawing/2014/main" id="{A6DE1C10-F3DF-60C6-DE51-1513FF695B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89" t="8791" r="32918" b="7374"/>
          <a:stretch>
            <a:fillRect/>
          </a:stretch>
        </p:blipFill>
        <p:spPr bwMode="auto">
          <a:xfrm>
            <a:off x="7744075" y="5466534"/>
            <a:ext cx="667305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black background with blue circles and dots&#10;&#10;AI-generated content may be incorrect.">
            <a:extLst>
              <a:ext uri="{FF2B5EF4-FFF2-40B4-BE49-F238E27FC236}">
                <a16:creationId xmlns:a16="http://schemas.microsoft.com/office/drawing/2014/main" id="{920D8A20-C5DE-2520-9354-1E19381AA8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4948" y="5372877"/>
            <a:ext cx="1861951" cy="115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32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5301B-2C1C-DE84-0FFE-502B5E35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24D6-FC48-74C7-FE23-095366399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13163F-CD9F-C931-4B84-83378A2A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3309AA-B842-06E6-C3C2-AA38AB77C141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CF7D65-92F1-335B-407C-7BBBB10F16B0}"/>
              </a:ext>
            </a:extLst>
          </p:cNvPr>
          <p:cNvGrpSpPr/>
          <p:nvPr/>
        </p:nvGrpSpPr>
        <p:grpSpPr>
          <a:xfrm>
            <a:off x="5328372" y="2305032"/>
            <a:ext cx="4297780" cy="2532944"/>
            <a:chOff x="6625622" y="2162528"/>
            <a:chExt cx="4297780" cy="253294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9AD7E88-42AC-6605-C57C-8B0924F256B6}"/>
                </a:ext>
              </a:extLst>
            </p:cNvPr>
            <p:cNvGrpSpPr/>
            <p:nvPr/>
          </p:nvGrpSpPr>
          <p:grpSpPr>
            <a:xfrm>
              <a:off x="6625622" y="2162528"/>
              <a:ext cx="4297780" cy="2532944"/>
              <a:chOff x="4115174" y="2349000"/>
              <a:chExt cx="4297780" cy="2532944"/>
            </a:xfrm>
          </p:grpSpPr>
          <p:pic>
            <p:nvPicPr>
              <p:cNvPr id="25" name="Picture 24" descr="Icon&#10;&#10;Description automatically generated">
                <a:extLst>
                  <a:ext uri="{FF2B5EF4-FFF2-40B4-BE49-F238E27FC236}">
                    <a16:creationId xmlns:a16="http://schemas.microsoft.com/office/drawing/2014/main" id="{45ED9589-4837-E156-D5C9-4D8B5B742D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6000" y="2349000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E2AA871-57A9-8459-C059-06754766370A}"/>
                  </a:ext>
                </a:extLst>
              </p:cNvPr>
              <p:cNvSpPr txBox="1"/>
              <p:nvPr/>
            </p:nvSpPr>
            <p:spPr>
              <a:xfrm>
                <a:off x="4115174" y="4358724"/>
                <a:ext cx="42977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II: Tutorial / Practical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C5BF400-7A6B-1E6E-E586-EF008AEE83F2}"/>
                </a:ext>
              </a:extLst>
            </p:cNvPr>
            <p:cNvGrpSpPr/>
            <p:nvPr/>
          </p:nvGrpSpPr>
          <p:grpSpPr>
            <a:xfrm>
              <a:off x="9200738" y="2461664"/>
              <a:ext cx="1722664" cy="1506816"/>
              <a:chOff x="8667171" y="2349000"/>
              <a:chExt cx="1722664" cy="1506816"/>
            </a:xfrm>
          </p:grpSpPr>
          <p:pic>
            <p:nvPicPr>
              <p:cNvPr id="15" name="Picture 14" descr="Icon&#10;&#10;Description automatically generated">
                <a:extLst>
                  <a:ext uri="{FF2B5EF4-FFF2-40B4-BE49-F238E27FC236}">
                    <a16:creationId xmlns:a16="http://schemas.microsoft.com/office/drawing/2014/main" id="{42E5866C-A176-6E05-8D3E-80D0F2877E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928C2CD5-B2F3-6469-2971-7FB3D5BE418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638E2915-6D3F-6446-6CF8-6D20403F84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3A6D1DB8-A6A8-3C67-DB75-E00EFF2D99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2AF6AF1-8C19-C345-5C20-9CF249C68A2D}"/>
              </a:ext>
            </a:extLst>
          </p:cNvPr>
          <p:cNvGrpSpPr/>
          <p:nvPr/>
        </p:nvGrpSpPr>
        <p:grpSpPr>
          <a:xfrm>
            <a:off x="2413756" y="2305032"/>
            <a:ext cx="2355260" cy="2509194"/>
            <a:chOff x="1029505" y="2349000"/>
            <a:chExt cx="2355260" cy="250919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DCCD6E7-30A4-B274-0D8C-2440FF98A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87135" y="2349000"/>
              <a:ext cx="1440000" cy="1440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E856E85-F669-8ADA-E723-148C695F19AE}"/>
                </a:ext>
              </a:extLst>
            </p:cNvPr>
            <p:cNvSpPr txBox="1"/>
            <p:nvPr/>
          </p:nvSpPr>
          <p:spPr>
            <a:xfrm>
              <a:off x="1029505" y="4334974"/>
              <a:ext cx="23552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I: Theory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180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141A2-609C-6310-E3CC-54D757EC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CFAF-6F05-5830-4F6C-3F1D6BBBD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451298-71FD-2564-5DE2-31E166F09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B2BF67-1B65-CBD9-762D-9DF34D0DAB1F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6A1D862-EC54-0791-2A8C-A559CD0982EF}"/>
              </a:ext>
            </a:extLst>
          </p:cNvPr>
          <p:cNvGrpSpPr/>
          <p:nvPr/>
        </p:nvGrpSpPr>
        <p:grpSpPr>
          <a:xfrm>
            <a:off x="2413756" y="2305032"/>
            <a:ext cx="2355260" cy="2509194"/>
            <a:chOff x="1029505" y="2349000"/>
            <a:chExt cx="2355260" cy="250919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8A1C403-F8F4-7914-E386-3F3AC1381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7135" y="2349000"/>
              <a:ext cx="1440000" cy="1440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874FD63-FF75-2A17-7475-57BB97E8F611}"/>
                </a:ext>
              </a:extLst>
            </p:cNvPr>
            <p:cNvSpPr txBox="1"/>
            <p:nvPr/>
          </p:nvSpPr>
          <p:spPr>
            <a:xfrm>
              <a:off x="1029505" y="4334974"/>
              <a:ext cx="23552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I: Theory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9622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C11C4-B234-C50F-0CB5-D4AF53F85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72D424-6D13-56D5-06BE-EC45036764F5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J.,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van Holst, R., &amp; Marsman, M. (in press). Statistical evidence in psychological networks: A Bayesian analysis of 294 networks from 126 studies.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Nature Human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7BB5FE0-2ABE-AE16-41CB-F20C93A23619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Whats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the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evidence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?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4C16EE-F6C6-8B28-9F6D-D59738EA5ABC}"/>
              </a:ext>
            </a:extLst>
          </p:cNvPr>
          <p:cNvSpPr txBox="1"/>
          <p:nvPr/>
        </p:nvSpPr>
        <p:spPr>
          <a:xfrm>
            <a:off x="817406" y="1560228"/>
            <a:ext cx="1091600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800" dirty="0">
                <a:solidFill>
                  <a:srgbClr val="1F3864"/>
                </a:solidFill>
                <a:latin typeface="Helvetica" pitchFamily="2" charset="0"/>
              </a:rPr>
              <a:t>Contrary to most existing network estimation methods, the </a:t>
            </a:r>
            <a:r>
              <a:rPr lang="en-GB" sz="2800" b="1" dirty="0">
                <a:solidFill>
                  <a:srgbClr val="1F3864"/>
                </a:solidFill>
                <a:latin typeface="Helvetica" pitchFamily="2" charset="0"/>
              </a:rPr>
              <a:t>Bayes factor analyses</a:t>
            </a:r>
            <a:r>
              <a:rPr lang="en-GB" sz="2800" dirty="0">
                <a:solidFill>
                  <a:srgbClr val="1F3864"/>
                </a:solidFill>
                <a:latin typeface="Helvetica" pitchFamily="2" charset="0"/>
              </a:rPr>
              <a:t> in Session I allowed us to </a:t>
            </a:r>
            <a:r>
              <a:rPr lang="en-GB" sz="2800" b="1" i="1" dirty="0">
                <a:solidFill>
                  <a:srgbClr val="1F3864"/>
                </a:solidFill>
                <a:latin typeface="Helvetica" pitchFamily="2" charset="0"/>
              </a:rPr>
              <a:t>quantify evidence of absence</a:t>
            </a:r>
            <a:r>
              <a:rPr lang="en-GB" sz="2800" i="1" dirty="0">
                <a:solidFill>
                  <a:srgbClr val="1F3864"/>
                </a:solidFill>
                <a:latin typeface="Helvetica" pitchFamily="2" charset="0"/>
              </a:rPr>
              <a:t>,</a:t>
            </a:r>
            <a:r>
              <a:rPr lang="en-GB" sz="2800" dirty="0">
                <a:solidFill>
                  <a:srgbClr val="1F3864"/>
                </a:solidFill>
                <a:latin typeface="Helvetica" pitchFamily="2" charset="0"/>
              </a:rPr>
              <a:t> not just detect </a:t>
            </a:r>
            <a:r>
              <a:rPr lang="en-GB" sz="2800" b="1" i="1" dirty="0">
                <a:solidFill>
                  <a:srgbClr val="1F3864"/>
                </a:solidFill>
                <a:latin typeface="Helvetica" pitchFamily="2" charset="0"/>
              </a:rPr>
              <a:t>absence of evidence</a:t>
            </a:r>
            <a:r>
              <a:rPr lang="en-GB" sz="2800" dirty="0">
                <a:solidFill>
                  <a:srgbClr val="1F3864"/>
                </a:solidFill>
                <a:latin typeface="Helvetica" pitchFamily="2" charset="0"/>
              </a:rPr>
              <a:t>.</a:t>
            </a:r>
          </a:p>
          <a:p>
            <a:pPr algn="just"/>
            <a:endParaRPr lang="en-GB" sz="2800" dirty="0">
              <a:solidFill>
                <a:srgbClr val="1F3864"/>
              </a:solidFill>
              <a:latin typeface="Helvetica" pitchFamily="2" charset="0"/>
            </a:endParaRPr>
          </a:p>
          <a:p>
            <a:pPr algn="just"/>
            <a:r>
              <a:rPr lang="en-GB" sz="2800" dirty="0">
                <a:solidFill>
                  <a:srgbClr val="1F3864"/>
                </a:solidFill>
                <a:latin typeface="Helvetica" pitchFamily="2" charset="0"/>
              </a:rPr>
              <a:t>This naturally raises a question: </a:t>
            </a:r>
            <a:r>
              <a:rPr lang="en-GB" sz="2800" b="1" dirty="0">
                <a:solidFill>
                  <a:srgbClr val="1F3864"/>
                </a:solidFill>
                <a:latin typeface="Helvetica" pitchFamily="2" charset="0"/>
              </a:rPr>
              <a:t>What happens when we apply this Bayesian reasoning to existing, published networks?</a:t>
            </a:r>
          </a:p>
          <a:p>
            <a:pPr algn="just"/>
            <a:endParaRPr lang="en-GB" sz="2800" dirty="0">
              <a:solidFill>
                <a:srgbClr val="1F3864"/>
              </a:solidFill>
              <a:latin typeface="Helvetica" pitchFamily="2" charset="0"/>
            </a:endParaRPr>
          </a:p>
          <a:p>
            <a:pPr algn="just"/>
            <a:r>
              <a:rPr lang="en-GB" sz="2800" dirty="0">
                <a:solidFill>
                  <a:srgbClr val="1F3864"/>
                </a:solidFill>
                <a:latin typeface="Helvetica" pitchFamily="2" charset="0"/>
              </a:rPr>
              <a:t>To explore this, we performed a </a:t>
            </a:r>
            <a:r>
              <a:rPr lang="en-GB" sz="2800" b="1" dirty="0">
                <a:solidFill>
                  <a:srgbClr val="1F3864"/>
                </a:solidFill>
                <a:latin typeface="Helvetica" pitchFamily="2" charset="0"/>
              </a:rPr>
              <a:t>Bayesian reanalysis</a:t>
            </a:r>
            <a:r>
              <a:rPr lang="en-GB" sz="2800" dirty="0">
                <a:solidFill>
                  <a:srgbClr val="1F3864"/>
                </a:solidFill>
                <a:latin typeface="Helvetica" pitchFamily="2" charset="0"/>
              </a:rPr>
              <a:t> of previously reported networks.</a:t>
            </a:r>
          </a:p>
        </p:txBody>
      </p:sp>
    </p:spTree>
    <p:extLst>
      <p:ext uri="{BB962C8B-B14F-4D97-AF65-F5344CB8AC3E}">
        <p14:creationId xmlns:p14="http://schemas.microsoft.com/office/powerpoint/2010/main" val="101710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96954-4966-07A4-3D2F-84902AE2D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735F4A-37F5-E9AF-4D35-C91C139B9DAD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Papers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and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data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E4C3F2-21CB-0C3D-FA18-B242B7459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418" y="36239"/>
            <a:ext cx="6096000" cy="678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409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8E973-25D4-A944-78AE-4D8928A2E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611C151-F5EB-DAB5-4796-40FE2AE06C5A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Papers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and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data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2D7FA-80CE-AD3E-0231-64B79E66FBFF}"/>
              </a:ext>
            </a:extLst>
          </p:cNvPr>
          <p:cNvSpPr txBox="1"/>
          <p:nvPr/>
        </p:nvSpPr>
        <p:spPr>
          <a:xfrm>
            <a:off x="271582" y="1696278"/>
            <a:ext cx="49497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Screening 4,720 papers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3,333 excluded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1,387 included (+ 36 additions) </a:t>
            </a:r>
          </a:p>
          <a:p>
            <a:endParaRPr lang="en-US" sz="2400" dirty="0"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DE85FB-248C-488C-564F-6A1F3DA899E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9000"/>
          </a:blip>
          <a:stretch>
            <a:fillRect/>
          </a:stretch>
        </p:blipFill>
        <p:spPr>
          <a:xfrm>
            <a:off x="5824418" y="36239"/>
            <a:ext cx="6096000" cy="6785522"/>
          </a:xfrm>
          <a:prstGeom prst="rect">
            <a:avLst/>
          </a:prstGeom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CEF53015-52F4-59C0-7964-7CD2A5AFC29F}"/>
              </a:ext>
            </a:extLst>
          </p:cNvPr>
          <p:cNvSpPr/>
          <p:nvPr/>
        </p:nvSpPr>
        <p:spPr>
          <a:xfrm>
            <a:off x="171404" y="1475232"/>
            <a:ext cx="4952417" cy="1572768"/>
          </a:xfrm>
          <a:prstGeom prst="frame">
            <a:avLst>
              <a:gd name="adj1" fmla="val 5523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5D4E97C-FFC5-2C35-E03E-8B1F520562F7}"/>
              </a:ext>
            </a:extLst>
          </p:cNvPr>
          <p:cNvSpPr/>
          <p:nvPr/>
        </p:nvSpPr>
        <p:spPr>
          <a:xfrm>
            <a:off x="5824418" y="1475232"/>
            <a:ext cx="6196178" cy="157276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 err="1">
                <a:solidFill>
                  <a:schemeClr val="bg1"/>
                </a:solidFill>
                <a:latin typeface="Helvetica" pitchFamily="2" charset="0"/>
              </a:rPr>
              <a:t>Robinaugh</a:t>
            </a: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 et al. (2018): </a:t>
            </a:r>
            <a:r>
              <a:rPr lang="en-US" sz="2000" b="1" dirty="0">
                <a:solidFill>
                  <a:schemeClr val="bg1"/>
                </a:solidFill>
                <a:latin typeface="Helvetica" pitchFamily="2" charset="0"/>
              </a:rPr>
              <a:t>732</a:t>
            </a: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 papers published between 2008 and 2018 on networks / </a:t>
            </a:r>
            <a:r>
              <a:rPr lang="en-US" sz="2000" b="1" dirty="0">
                <a:solidFill>
                  <a:schemeClr val="bg1"/>
                </a:solidFill>
                <a:latin typeface="Helvetica" pitchFamily="2" charset="0"/>
              </a:rPr>
              <a:t>363</a:t>
            </a: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 papers on psychiatric phenomena including a network approach</a:t>
            </a:r>
          </a:p>
        </p:txBody>
      </p:sp>
    </p:spTree>
    <p:extLst>
      <p:ext uri="{BB962C8B-B14F-4D97-AF65-F5344CB8AC3E}">
        <p14:creationId xmlns:p14="http://schemas.microsoft.com/office/powerpoint/2010/main" val="1835209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990AF-1592-0946-F931-3ED100ACE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4CB9BFF-30F8-8044-3EC8-0AE855DA844C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Papers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and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data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C0EB1-2683-055C-2200-192FA4C244A7}"/>
              </a:ext>
            </a:extLst>
          </p:cNvPr>
          <p:cNvSpPr txBox="1"/>
          <p:nvPr/>
        </p:nvSpPr>
        <p:spPr>
          <a:xfrm>
            <a:off x="271582" y="1696278"/>
            <a:ext cx="49497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Screening 4,720 papers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3,333 excluded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1,387 included (+ 36 additions) </a:t>
            </a:r>
          </a:p>
          <a:p>
            <a:endParaRPr lang="en-US" sz="2400" dirty="0"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BE34BF-9B50-3F88-3ADC-3F276298E80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9000"/>
          </a:blip>
          <a:stretch>
            <a:fillRect/>
          </a:stretch>
        </p:blipFill>
        <p:spPr>
          <a:xfrm>
            <a:off x="5824418" y="36239"/>
            <a:ext cx="6096000" cy="6785522"/>
          </a:xfrm>
          <a:prstGeom prst="rect">
            <a:avLst/>
          </a:prstGeom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85051CE6-E5D7-33A7-FF27-398E56A014FE}"/>
              </a:ext>
            </a:extLst>
          </p:cNvPr>
          <p:cNvSpPr/>
          <p:nvPr/>
        </p:nvSpPr>
        <p:spPr>
          <a:xfrm>
            <a:off x="171404" y="1475232"/>
            <a:ext cx="4952417" cy="1572768"/>
          </a:xfrm>
          <a:prstGeom prst="frame">
            <a:avLst>
              <a:gd name="adj1" fmla="val 5523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F6D4BEE-FFB8-93B4-6161-D480D6E210DA}"/>
              </a:ext>
            </a:extLst>
          </p:cNvPr>
          <p:cNvSpPr/>
          <p:nvPr/>
        </p:nvSpPr>
        <p:spPr>
          <a:xfrm>
            <a:off x="5824418" y="1475232"/>
            <a:ext cx="6196178" cy="157276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No empirical analyses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No cross-sectional analyses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No psychometric variables </a:t>
            </a:r>
          </a:p>
        </p:txBody>
      </p:sp>
    </p:spTree>
    <p:extLst>
      <p:ext uri="{BB962C8B-B14F-4D97-AF65-F5344CB8AC3E}">
        <p14:creationId xmlns:p14="http://schemas.microsoft.com/office/powerpoint/2010/main" val="497713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93A5A-8676-3714-B013-C5BD80F88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A67D72A-7780-4932-A4F4-65352AFAA13D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Papers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and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data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885E79-D782-ED53-C682-D6686CC66EDC}"/>
              </a:ext>
            </a:extLst>
          </p:cNvPr>
          <p:cNvSpPr txBox="1"/>
          <p:nvPr/>
        </p:nvSpPr>
        <p:spPr>
          <a:xfrm>
            <a:off x="271582" y="1696278"/>
            <a:ext cx="49497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Screening 4,720 papers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3,333 excluded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1,387 included (+ 36 additions) </a:t>
            </a:r>
          </a:p>
          <a:p>
            <a:endParaRPr lang="en-US" sz="2400" dirty="0"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Inquired 1,423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443 responses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126 included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317 excluded</a:t>
            </a:r>
          </a:p>
          <a:p>
            <a:endParaRPr lang="en-US" sz="2400" dirty="0"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  <a:sym typeface="Wingdings" pitchFamily="2" charset="2"/>
              </a:rPr>
              <a:t> </a:t>
            </a: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126 papers; 293 networks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F8ECF5-3293-3B46-8417-0CE8B507E15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4418" y="36239"/>
            <a:ext cx="6096000" cy="6785522"/>
          </a:xfrm>
          <a:prstGeom prst="rect">
            <a:avLst/>
          </a:prstGeom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BCCED24B-CD69-BE8B-ED77-9A70B5DE1E96}"/>
              </a:ext>
            </a:extLst>
          </p:cNvPr>
          <p:cNvSpPr/>
          <p:nvPr/>
        </p:nvSpPr>
        <p:spPr>
          <a:xfrm>
            <a:off x="171404" y="3121152"/>
            <a:ext cx="4952417" cy="1658112"/>
          </a:xfrm>
          <a:prstGeom prst="frame">
            <a:avLst>
              <a:gd name="adj1" fmla="val 5523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42375E00-F504-1E1C-8E4B-CFF502C7430A}"/>
              </a:ext>
            </a:extLst>
          </p:cNvPr>
          <p:cNvSpPr/>
          <p:nvPr/>
        </p:nvSpPr>
        <p:spPr>
          <a:xfrm>
            <a:off x="9412225" y="4474464"/>
            <a:ext cx="2520386" cy="2218944"/>
          </a:xfrm>
          <a:prstGeom prst="frame">
            <a:avLst>
              <a:gd name="adj1" fmla="val 5523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955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E8F55-F0CB-964C-4787-61E369C0F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D6A319-CCAA-BE35-D051-033CABE4EB28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Papers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and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data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D33F1-42EC-299F-6E1F-546004917A15}"/>
              </a:ext>
            </a:extLst>
          </p:cNvPr>
          <p:cNvSpPr txBox="1"/>
          <p:nvPr/>
        </p:nvSpPr>
        <p:spPr>
          <a:xfrm>
            <a:off x="271582" y="1696278"/>
            <a:ext cx="49497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Screening 4,720 papers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3,333 excluded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1,387 included (+ 36 additions) </a:t>
            </a:r>
          </a:p>
          <a:p>
            <a:endParaRPr lang="en-US" sz="2400" dirty="0"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Inquired 1,423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443 responses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126 included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317 excluded</a:t>
            </a:r>
          </a:p>
          <a:p>
            <a:endParaRPr lang="en-US" sz="2400" dirty="0"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  <a:sym typeface="Wingdings" pitchFamily="2" charset="2"/>
              </a:rPr>
              <a:t> </a:t>
            </a: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126 papers; 293 networks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96A6A8-FDCA-E282-6FF2-5F2411D9DB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4418" y="36239"/>
            <a:ext cx="6096000" cy="6785522"/>
          </a:xfrm>
          <a:prstGeom prst="rect">
            <a:avLst/>
          </a:prstGeom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B36D9D23-85F3-24F2-512E-0C59416EFFE5}"/>
              </a:ext>
            </a:extLst>
          </p:cNvPr>
          <p:cNvSpPr/>
          <p:nvPr/>
        </p:nvSpPr>
        <p:spPr>
          <a:xfrm>
            <a:off x="259389" y="4925568"/>
            <a:ext cx="4952417" cy="556362"/>
          </a:xfrm>
          <a:prstGeom prst="frame">
            <a:avLst>
              <a:gd name="adj1" fmla="val 1648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F62073D5-B1F2-4D45-DAB0-D0C627F7FB1A}"/>
              </a:ext>
            </a:extLst>
          </p:cNvPr>
          <p:cNvSpPr/>
          <p:nvPr/>
        </p:nvSpPr>
        <p:spPr>
          <a:xfrm>
            <a:off x="6352032" y="5596127"/>
            <a:ext cx="2401824" cy="1146049"/>
          </a:xfrm>
          <a:prstGeom prst="frame">
            <a:avLst>
              <a:gd name="adj1" fmla="val 1084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133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637D3-71B9-26FA-6165-F389671AF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F00260-3C51-9F9D-840F-E9ABA529109A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Analysis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13EAD0B-8BDE-75A5-858E-1B2A8EC1A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055" y="4006037"/>
            <a:ext cx="6007100" cy="4064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73E7035-18AF-6E78-CF3B-43AE0F4D9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055" y="4692777"/>
            <a:ext cx="6896100" cy="4064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CFE0803-A6E0-86DF-A81B-07CF0ADFDA7D}"/>
              </a:ext>
            </a:extLst>
          </p:cNvPr>
          <p:cNvSpPr txBox="1"/>
          <p:nvPr/>
        </p:nvSpPr>
        <p:spPr>
          <a:xfrm>
            <a:off x="881326" y="1452224"/>
            <a:ext cx="1091600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 analyzed all networks using the Gaussian graphical model</a:t>
            </a:r>
          </a:p>
          <a:p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For each network relation, we use the Bayes factor to assess the support in the data for the competing hypotheses:</a:t>
            </a:r>
          </a:p>
        </p:txBody>
      </p:sp>
    </p:spTree>
    <p:extLst>
      <p:ext uri="{BB962C8B-B14F-4D97-AF65-F5344CB8AC3E}">
        <p14:creationId xmlns:p14="http://schemas.microsoft.com/office/powerpoint/2010/main" val="2375863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210D7-8EAE-6EAE-58D8-FC4E7FC87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B2A61F9-1DEF-B962-40F5-F031A5E33472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Analysis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FB6FF3-0CBE-4739-F1F3-D242A8C45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926" y="2522222"/>
            <a:ext cx="4102100" cy="1092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26E4E7-F103-61D4-9685-B6C7B7BC3930}"/>
              </a:ext>
            </a:extLst>
          </p:cNvPr>
          <p:cNvSpPr txBox="1"/>
          <p:nvPr/>
        </p:nvSpPr>
        <p:spPr>
          <a:xfrm>
            <a:off x="881326" y="1296947"/>
            <a:ext cx="10916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The Bayes factor indicates how much more plausible the data are under one hypothesis relative to the other</a:t>
            </a:r>
          </a:p>
        </p:txBody>
      </p:sp>
    </p:spTree>
    <p:extLst>
      <p:ext uri="{BB962C8B-B14F-4D97-AF65-F5344CB8AC3E}">
        <p14:creationId xmlns:p14="http://schemas.microsoft.com/office/powerpoint/2010/main" val="3289272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3F85C-3B07-87A2-D084-296BA1F8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E7980B2-6C1E-FC6F-B3BA-3ED26406E01D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Analysis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087F12-B047-3186-53E6-12BB76536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92" y="4109330"/>
            <a:ext cx="2812500" cy="36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37C308-FC15-A99D-F993-0DE9661C2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124" y="4109330"/>
            <a:ext cx="2801250" cy="360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631B513-B777-D360-A6DA-060881B9AF6F}"/>
              </a:ext>
            </a:extLst>
          </p:cNvPr>
          <p:cNvCxnSpPr>
            <a:cxnSpLocks/>
          </p:cNvCxnSpPr>
          <p:nvPr/>
        </p:nvCxnSpPr>
        <p:spPr>
          <a:xfrm flipH="1">
            <a:off x="150658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7062A4-F56D-C052-5494-9D63658E20D4}"/>
              </a:ext>
            </a:extLst>
          </p:cNvPr>
          <p:cNvCxnSpPr>
            <a:cxnSpLocks/>
          </p:cNvCxnSpPr>
          <p:nvPr/>
        </p:nvCxnSpPr>
        <p:spPr>
          <a:xfrm flipH="1">
            <a:off x="6427132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F2CA9829-52C0-8ADE-6A85-68DF869910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83" y="4950235"/>
            <a:ext cx="1202400" cy="54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A4776C-4322-0406-38A8-D6EAB0289D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6824" y="4947034"/>
            <a:ext cx="1202400" cy="54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49FE76-EFE7-BC99-B432-CACE104626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2918" y="4959734"/>
            <a:ext cx="1072800" cy="54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181C7D-FD11-7782-E91A-D7749C25D9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3712" y="5141289"/>
            <a:ext cx="1031062" cy="234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4864BE-38D8-4480-F01C-D94D2C2222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6221" y="5116167"/>
            <a:ext cx="1045688" cy="234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00A3EE-AAB5-115F-C536-25C62573552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7045" y="5116167"/>
            <a:ext cx="1177313" cy="234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68FCE5-76A0-8905-A03D-05B3E290CA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5000" y="5118314"/>
            <a:ext cx="1177313" cy="23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B433CD-A0CE-5824-A45A-F7062DCE8F9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44926" y="2522222"/>
            <a:ext cx="4102100" cy="1092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85EE24-32D2-ED48-5589-9E2C821589F2}"/>
              </a:ext>
            </a:extLst>
          </p:cNvPr>
          <p:cNvSpPr txBox="1"/>
          <p:nvPr/>
        </p:nvSpPr>
        <p:spPr>
          <a:xfrm>
            <a:off x="881326" y="1296947"/>
            <a:ext cx="10916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The Bayes factor indicates how much more plausible the data are under one hypothesis relative to the other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AE84065-E822-000F-54EA-9723F4FD3B0B}"/>
              </a:ext>
            </a:extLst>
          </p:cNvPr>
          <p:cNvSpPr/>
          <p:nvPr/>
        </p:nvSpPr>
        <p:spPr>
          <a:xfrm>
            <a:off x="-189781" y="3924976"/>
            <a:ext cx="12599495" cy="3976823"/>
          </a:xfrm>
          <a:prstGeom prst="rect">
            <a:avLst/>
          </a:prstGeom>
          <a:solidFill>
            <a:srgbClr val="CCCCCC">
              <a:alpha val="1417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491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7D0BD-814E-5A62-EED3-2662FB67F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C2664E9-157E-689D-23E2-0C9DBC3B1E67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Analysis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F8C5943-8B09-B0A3-C5B3-DDF11F93B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48A1BBB-3647-7146-9CE9-E866F85C08B0}" type="slidenum">
              <a:rPr lang="en-US" smtClean="0"/>
              <a:t>13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8A3620-D582-1BC2-EAC4-BBB3E48E5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92" y="4109330"/>
            <a:ext cx="2812500" cy="36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D7F9CC-93C1-0BBD-0B72-7B537A22F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124" y="4109330"/>
            <a:ext cx="2801250" cy="360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A4AFC54-1816-FC79-98A3-408A449711C7}"/>
              </a:ext>
            </a:extLst>
          </p:cNvPr>
          <p:cNvCxnSpPr>
            <a:cxnSpLocks/>
          </p:cNvCxnSpPr>
          <p:nvPr/>
        </p:nvCxnSpPr>
        <p:spPr>
          <a:xfrm flipH="1">
            <a:off x="150658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0C1D82-4523-2D7A-22AB-50BC023B691A}"/>
              </a:ext>
            </a:extLst>
          </p:cNvPr>
          <p:cNvCxnSpPr>
            <a:cxnSpLocks/>
          </p:cNvCxnSpPr>
          <p:nvPr/>
        </p:nvCxnSpPr>
        <p:spPr>
          <a:xfrm flipH="1">
            <a:off x="6427132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5214037-F602-EA4B-5D34-28764E7DCC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83" y="4950235"/>
            <a:ext cx="1202400" cy="54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FC2021-E110-7463-1C1E-459099FCBF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6824" y="4947034"/>
            <a:ext cx="1202400" cy="54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F6202C-D269-D53B-E81D-67795F9364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2918" y="4959734"/>
            <a:ext cx="1072800" cy="54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35D8E6-8841-DC61-E3E2-C39A889A50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3712" y="5141289"/>
            <a:ext cx="1031062" cy="234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EF84D1-CCBD-A60D-EA5D-0A491D4654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6221" y="5116167"/>
            <a:ext cx="1045688" cy="234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16E9A1-043B-0DF6-D8D2-1608517B30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7045" y="5116167"/>
            <a:ext cx="1177313" cy="234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AE143E3-1EC4-27D3-11F1-8E41826903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5000" y="5118314"/>
            <a:ext cx="1177313" cy="2340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3E6D87-D388-D980-3B34-B1F795F3AE94}"/>
              </a:ext>
            </a:extLst>
          </p:cNvPr>
          <p:cNvCxnSpPr>
            <a:cxnSpLocks/>
          </p:cNvCxnSpPr>
          <p:nvPr/>
        </p:nvCxnSpPr>
        <p:spPr>
          <a:xfrm flipH="1">
            <a:off x="949421" y="604787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6C3E8C-C524-AC8F-BAE9-D5CC60F0730E}"/>
              </a:ext>
            </a:extLst>
          </p:cNvPr>
          <p:cNvCxnSpPr>
            <a:cxnSpLocks/>
          </p:cNvCxnSpPr>
          <p:nvPr/>
        </p:nvCxnSpPr>
        <p:spPr>
          <a:xfrm flipH="1">
            <a:off x="274928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E9F2E6-FB67-B4CF-F848-54448FB69935}"/>
              </a:ext>
            </a:extLst>
          </p:cNvPr>
          <p:cNvCxnSpPr>
            <a:cxnSpLocks/>
          </p:cNvCxnSpPr>
          <p:nvPr/>
        </p:nvCxnSpPr>
        <p:spPr>
          <a:xfrm flipH="1">
            <a:off x="449669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62D9C41-ADBF-A791-52D6-9DCFF2F4D9A1}"/>
              </a:ext>
            </a:extLst>
          </p:cNvPr>
          <p:cNvCxnSpPr>
            <a:cxnSpLocks/>
          </p:cNvCxnSpPr>
          <p:nvPr/>
        </p:nvCxnSpPr>
        <p:spPr>
          <a:xfrm flipH="1">
            <a:off x="6321439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17AD919-7C1E-AF02-EF65-18EB490951B4}"/>
              </a:ext>
            </a:extLst>
          </p:cNvPr>
          <p:cNvCxnSpPr>
            <a:cxnSpLocks/>
          </p:cNvCxnSpPr>
          <p:nvPr/>
        </p:nvCxnSpPr>
        <p:spPr>
          <a:xfrm flipH="1">
            <a:off x="8072244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476F287-CE87-3EF6-9392-EB715767022C}"/>
              </a:ext>
            </a:extLst>
          </p:cNvPr>
          <p:cNvCxnSpPr>
            <a:cxnSpLocks/>
          </p:cNvCxnSpPr>
          <p:nvPr/>
        </p:nvCxnSpPr>
        <p:spPr>
          <a:xfrm flipH="1">
            <a:off x="9861061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6618380C-9AAB-065A-0FC9-6FDF711FEE9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6113" y="6478587"/>
            <a:ext cx="1011272" cy="324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66DD6CF-2BE2-5233-E6DF-D0C9CEC3A4B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33879" y="6476850"/>
            <a:ext cx="1434462" cy="252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B68F793-EEE0-40DE-3B86-6C8953C8722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1604" y="6481701"/>
            <a:ext cx="802666" cy="252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E5A8CC9-D9B4-1DC4-7C9F-D247AE11278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1167" y="6488139"/>
            <a:ext cx="802666" cy="252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19DF4CB-1A6E-DEA7-C11D-E3246D29987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8039" y="6481886"/>
            <a:ext cx="1434462" cy="252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2F942F2-B3EC-D5EB-0F6E-D5C1E1436E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2795" y="6488139"/>
            <a:ext cx="1011272" cy="32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2AF7C3-3E8D-B971-AC42-365CD68B3E3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44926" y="2522222"/>
            <a:ext cx="4102100" cy="1092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8643B7-6152-7DC4-AE45-2386A5E81E8B}"/>
              </a:ext>
            </a:extLst>
          </p:cNvPr>
          <p:cNvSpPr txBox="1"/>
          <p:nvPr/>
        </p:nvSpPr>
        <p:spPr>
          <a:xfrm>
            <a:off x="881326" y="1296947"/>
            <a:ext cx="10916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The Bayes factor indicates how much more plausible the data are under one hypothesis relative to the other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57C7F9-4CAB-FB63-5B78-14919F63426D}"/>
              </a:ext>
            </a:extLst>
          </p:cNvPr>
          <p:cNvSpPr/>
          <p:nvPr/>
        </p:nvSpPr>
        <p:spPr>
          <a:xfrm>
            <a:off x="-189781" y="3924976"/>
            <a:ext cx="12599495" cy="3976823"/>
          </a:xfrm>
          <a:prstGeom prst="rect">
            <a:avLst/>
          </a:prstGeom>
          <a:solidFill>
            <a:srgbClr val="CCCCCC">
              <a:alpha val="1417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667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3BF13-D7CC-871D-5DBF-3AD91E20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1184059-3773-E50F-58DF-B7C60171F327}"/>
              </a:ext>
            </a:extLst>
          </p:cNvPr>
          <p:cNvSpPr/>
          <p:nvPr/>
        </p:nvSpPr>
        <p:spPr>
          <a:xfrm>
            <a:off x="8827312" y="3873500"/>
            <a:ext cx="3377939" cy="2984500"/>
          </a:xfrm>
          <a:prstGeom prst="rect">
            <a:avLst/>
          </a:prstGeom>
          <a:solidFill>
            <a:srgbClr val="366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95A45C-EFA1-69B9-701B-B994A47B9C8A}"/>
              </a:ext>
            </a:extLst>
          </p:cNvPr>
          <p:cNvSpPr/>
          <p:nvPr/>
        </p:nvSpPr>
        <p:spPr>
          <a:xfrm>
            <a:off x="7066741" y="3869787"/>
            <a:ext cx="1760571" cy="2984500"/>
          </a:xfrm>
          <a:prstGeom prst="rect">
            <a:avLst/>
          </a:prstGeom>
          <a:solidFill>
            <a:srgbClr val="85A2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A8AFCCF-5A32-CE0E-A72A-AAF1BA9C60A5}"/>
              </a:ext>
            </a:extLst>
          </p:cNvPr>
          <p:cNvSpPr/>
          <p:nvPr/>
        </p:nvSpPr>
        <p:spPr>
          <a:xfrm>
            <a:off x="5220373" y="3873500"/>
            <a:ext cx="1849643" cy="2984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23F147-B99C-816E-9DE1-C9D459D05B9E}"/>
              </a:ext>
            </a:extLst>
          </p:cNvPr>
          <p:cNvSpPr/>
          <p:nvPr/>
        </p:nvSpPr>
        <p:spPr>
          <a:xfrm>
            <a:off x="3459802" y="3873500"/>
            <a:ext cx="1760571" cy="2984500"/>
          </a:xfrm>
          <a:prstGeom prst="rect">
            <a:avLst/>
          </a:prstGeom>
          <a:solidFill>
            <a:srgbClr val="F9D2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AEF0B4-B6F9-53BA-CF64-26E93D55B06D}"/>
              </a:ext>
            </a:extLst>
          </p:cNvPr>
          <p:cNvSpPr/>
          <p:nvPr/>
        </p:nvSpPr>
        <p:spPr>
          <a:xfrm>
            <a:off x="1" y="3873500"/>
            <a:ext cx="3459800" cy="2984500"/>
          </a:xfrm>
          <a:prstGeom prst="rect">
            <a:avLst/>
          </a:prstGeom>
          <a:solidFill>
            <a:srgbClr val="EFB1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765A0C9-66CD-7433-0157-6F719950E3B4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Analysis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1EA46C0-1C95-FF85-F21D-62E6EEBD2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48A1BBB-3647-7146-9CE9-E866F85C08B0}" type="slidenum">
              <a:rPr lang="en-US" smtClean="0"/>
              <a:t>14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6FCB78-72D3-CD9B-19FC-3DD97F6BB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92" y="4109330"/>
            <a:ext cx="2812500" cy="36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EF6BBA-8195-7503-1E58-0893753B9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124" y="4109330"/>
            <a:ext cx="2801250" cy="360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4919FC-AF18-E6D4-0CBE-E2907197AC24}"/>
              </a:ext>
            </a:extLst>
          </p:cNvPr>
          <p:cNvCxnSpPr>
            <a:cxnSpLocks/>
          </p:cNvCxnSpPr>
          <p:nvPr/>
        </p:nvCxnSpPr>
        <p:spPr>
          <a:xfrm flipH="1">
            <a:off x="150658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ACDEF49-8F1E-BF12-091A-03B7B4296DF0}"/>
              </a:ext>
            </a:extLst>
          </p:cNvPr>
          <p:cNvCxnSpPr>
            <a:cxnSpLocks/>
          </p:cNvCxnSpPr>
          <p:nvPr/>
        </p:nvCxnSpPr>
        <p:spPr>
          <a:xfrm flipH="1">
            <a:off x="6427132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14B5175-A04E-7410-0486-A0923767C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83" y="4950235"/>
            <a:ext cx="1202400" cy="54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EB58E1-2CD1-31DD-4A71-F9943A05A4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6824" y="4947034"/>
            <a:ext cx="1202400" cy="54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7C972E-8D0D-09E4-7D44-2A5469BF7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2918" y="4959734"/>
            <a:ext cx="1072800" cy="54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8CDF12-2ACF-595A-A8E5-94E3F33358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3712" y="5141289"/>
            <a:ext cx="1031062" cy="234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49EFAE-8196-C0E3-2A73-A47C077912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6221" y="5116167"/>
            <a:ext cx="1045688" cy="234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C6F6F4-B534-58FC-6EB9-6776A9F2A8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7045" y="5116167"/>
            <a:ext cx="1177313" cy="234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A4A7C6-5281-90BA-268F-96391047E1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5000" y="5118314"/>
            <a:ext cx="1177313" cy="2340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FAA471C-4928-2AE5-4BF3-C3882EEA3C7F}"/>
              </a:ext>
            </a:extLst>
          </p:cNvPr>
          <p:cNvCxnSpPr>
            <a:cxnSpLocks/>
          </p:cNvCxnSpPr>
          <p:nvPr/>
        </p:nvCxnSpPr>
        <p:spPr>
          <a:xfrm flipH="1">
            <a:off x="949421" y="604787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C9E7FB9-385B-8902-15DC-4EAF2627B9DF}"/>
              </a:ext>
            </a:extLst>
          </p:cNvPr>
          <p:cNvCxnSpPr>
            <a:cxnSpLocks/>
          </p:cNvCxnSpPr>
          <p:nvPr/>
        </p:nvCxnSpPr>
        <p:spPr>
          <a:xfrm flipH="1">
            <a:off x="274928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47CFF5-EB3D-ADE9-13E6-19361BD7CC83}"/>
              </a:ext>
            </a:extLst>
          </p:cNvPr>
          <p:cNvCxnSpPr>
            <a:cxnSpLocks/>
          </p:cNvCxnSpPr>
          <p:nvPr/>
        </p:nvCxnSpPr>
        <p:spPr>
          <a:xfrm flipH="1">
            <a:off x="449669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D2360A4-1F82-76B5-A105-7B7FCEEF79DE}"/>
              </a:ext>
            </a:extLst>
          </p:cNvPr>
          <p:cNvCxnSpPr>
            <a:cxnSpLocks/>
          </p:cNvCxnSpPr>
          <p:nvPr/>
        </p:nvCxnSpPr>
        <p:spPr>
          <a:xfrm flipH="1">
            <a:off x="6321439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B6E9CDF-57A5-24AE-F62C-BBB26328CF70}"/>
              </a:ext>
            </a:extLst>
          </p:cNvPr>
          <p:cNvCxnSpPr>
            <a:cxnSpLocks/>
          </p:cNvCxnSpPr>
          <p:nvPr/>
        </p:nvCxnSpPr>
        <p:spPr>
          <a:xfrm flipH="1">
            <a:off x="8072244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4E522E0-F89A-D2C6-E4FE-51AFA6317B06}"/>
              </a:ext>
            </a:extLst>
          </p:cNvPr>
          <p:cNvCxnSpPr>
            <a:cxnSpLocks/>
          </p:cNvCxnSpPr>
          <p:nvPr/>
        </p:nvCxnSpPr>
        <p:spPr>
          <a:xfrm flipH="1">
            <a:off x="9861061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4F3F1098-864D-1A30-EA2E-AF6B5D2802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6113" y="6478587"/>
            <a:ext cx="1011272" cy="324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221FBF8-2911-A25C-449E-CFDF39EDCC7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33879" y="6476850"/>
            <a:ext cx="1434462" cy="252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9CF5863-62BC-35FB-01E8-98300C5671D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1604" y="6481701"/>
            <a:ext cx="802666" cy="252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7EEF03A-45EC-D171-08D4-E815F56914B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1167" y="6488139"/>
            <a:ext cx="802666" cy="252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849C370-CBB3-347A-3123-F7016ED7ADD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8039" y="6481886"/>
            <a:ext cx="1434462" cy="252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2D54AFA-A064-1E6C-9665-EBE2A6667F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2795" y="6488139"/>
            <a:ext cx="1011272" cy="32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A5C19A-238E-D46E-04E9-3DDFF2CACF4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44926" y="2522222"/>
            <a:ext cx="4102100" cy="1092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7409A9-1AEE-01D0-CB18-C2A4241A3327}"/>
              </a:ext>
            </a:extLst>
          </p:cNvPr>
          <p:cNvSpPr txBox="1"/>
          <p:nvPr/>
        </p:nvSpPr>
        <p:spPr>
          <a:xfrm>
            <a:off x="881326" y="1296947"/>
            <a:ext cx="10916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The Bayes factor indicates how much more plausible the data are under one hypothesis relative to the other</a:t>
            </a:r>
          </a:p>
        </p:txBody>
      </p:sp>
    </p:spTree>
    <p:extLst>
      <p:ext uri="{BB962C8B-B14F-4D97-AF65-F5344CB8AC3E}">
        <p14:creationId xmlns:p14="http://schemas.microsoft.com/office/powerpoint/2010/main" val="2819084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15E35-83B0-0421-5E61-922F9DC9C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6240EF6-3C21-CEC6-C9AB-3EF1870863A5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Results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B8E528-9A2D-831B-8BE8-A10B6D41C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0" y="1125223"/>
            <a:ext cx="10511430" cy="572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807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08C10-C23F-4BC4-371B-7490BEEF6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0D76E17-8BA6-396C-45DF-E4683C047ED2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Results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39A602-524C-95E8-FB43-AD763E01A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52" y="1055415"/>
            <a:ext cx="10602296" cy="613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085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3B301-7A65-C0F5-4CBC-8CE05528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E471DAA-E931-CB53-8584-B97425C0853A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Results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547AF-A8B5-0238-DFA8-A4DA541D7E1C}"/>
              </a:ext>
            </a:extLst>
          </p:cNvPr>
          <p:cNvSpPr txBox="1"/>
          <p:nvPr/>
        </p:nvSpPr>
        <p:spPr>
          <a:xfrm>
            <a:off x="3876674" y="404188"/>
            <a:ext cx="7286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https://</a:t>
            </a:r>
            <a:r>
              <a:rPr lang="en-US" sz="2800" dirty="0" err="1">
                <a:solidFill>
                  <a:srgbClr val="1F3864"/>
                </a:solidFill>
                <a:latin typeface="Helvetica" pitchFamily="2" charset="0"/>
              </a:rPr>
              <a:t>uvasobe.shinyapps.io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/</a:t>
            </a:r>
            <a:r>
              <a:rPr lang="en-US" sz="2800" dirty="0" err="1">
                <a:solidFill>
                  <a:srgbClr val="1F3864"/>
                </a:solidFill>
                <a:latin typeface="Helvetica" pitchFamily="2" charset="0"/>
              </a:rPr>
              <a:t>ReBayesed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/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E2C246-FDC5-79BA-5D00-87789C2E6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99" y="1532501"/>
            <a:ext cx="9709113" cy="444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419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630F8-2AC0-4268-3C22-2E7F00C61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7218D74-7817-43A9-4183-F037D6BB9ECC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Conclusions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1F5376-7B8A-2527-29B6-DCB25597F0CD}"/>
              </a:ext>
            </a:extLst>
          </p:cNvPr>
          <p:cNvSpPr txBox="1"/>
          <p:nvPr/>
        </p:nvSpPr>
        <p:spPr>
          <a:xfrm>
            <a:off x="688847" y="1328580"/>
            <a:ext cx="113009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Strong evidence for the presence or absence of ~20% edges</a:t>
            </a:r>
          </a:p>
          <a:p>
            <a:pPr lvl="1"/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1/10 or 10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  <a:p>
            <a:pPr lvl="1"/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85D215-FDA2-FD48-DFB0-2CF8446A7E9C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J.,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van Holst, R., &amp; Marsman, M. (in press). Statistical evidence in psychological networks: A Bayesian analysis of 294 networks from 126 studies.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Nature Human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782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5A37B-DC6C-B89F-10FF-AAADFB98D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2998549-0554-FA0A-7E5F-31333A7C81CB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Conclusions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EDCCE4-41E9-09A9-E652-6EB57CAB3AAA}"/>
              </a:ext>
            </a:extLst>
          </p:cNvPr>
          <p:cNvSpPr txBox="1"/>
          <p:nvPr/>
        </p:nvSpPr>
        <p:spPr>
          <a:xfrm>
            <a:off x="688847" y="1328580"/>
            <a:ext cx="113009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Strong evidence for the presence or absence of ~20% edges</a:t>
            </a:r>
          </a:p>
          <a:p>
            <a:pPr lvl="1"/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1/10 or 10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  <a:p>
            <a:pPr lvl="1"/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Weak evidence for the presence or absence of ~50% edges </a:t>
            </a: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1/10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1/3 or 3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10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8B45A4-B9A5-6E44-CECF-A088F9D1A125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J.,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van Holst, R., &amp; Marsman, M. (in press). Statistical evidence in psychological networks: A Bayesian analysis of 294 networks from 126 studies.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Nature Human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695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3728E-1CDD-808B-7947-FA7FDABF7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9DE40D-CB6B-6528-336D-401DB3EA7FC7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Conclusions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A7F880-3C83-3483-2E8F-6F1C44C319E3}"/>
              </a:ext>
            </a:extLst>
          </p:cNvPr>
          <p:cNvSpPr txBox="1"/>
          <p:nvPr/>
        </p:nvSpPr>
        <p:spPr>
          <a:xfrm>
            <a:off x="688847" y="1328580"/>
            <a:ext cx="1130095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Strong evidence for the presence or absence of ~20% edges</a:t>
            </a:r>
          </a:p>
          <a:p>
            <a:pPr lvl="1"/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1/10 or 10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  <a:p>
            <a:pPr lvl="1"/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Weak evidence for the presence or absence of ~50% edges </a:t>
            </a: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1/10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1/3 or 3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10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Inconclusive evidence of remaining ~30% of edges </a:t>
            </a: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1/3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115634-17CB-62EE-A9F5-75B8DC9D3681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J.,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van Holst, R., &amp; Marsman, M. (in press). Statistical evidence in psychological networks: A Bayesian analysis of 294 networks from 126 studies.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Nature Human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233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5EDCE-2AFA-A1BB-89AD-DBE9CC38E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3FA2199-F5F3-837C-8D44-C0205B71B666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Conclusions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8C2A4-BB12-4EFE-DBF8-4E2B28DBE55B}"/>
              </a:ext>
            </a:extLst>
          </p:cNvPr>
          <p:cNvSpPr txBox="1"/>
          <p:nvPr/>
        </p:nvSpPr>
        <p:spPr>
          <a:xfrm>
            <a:off x="688847" y="1328580"/>
            <a:ext cx="1130095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Strong evidence for the presence or absence of ~20% edges</a:t>
            </a:r>
          </a:p>
          <a:p>
            <a:pPr lvl="1"/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1/10 or 10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  <a:p>
            <a:pPr lvl="1"/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Weak evidence for the presence or absence of ~50% edges </a:t>
            </a: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1/10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1/3 or 3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10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Inconclusive evidence of remaining ~30% of edges </a:t>
            </a: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1/3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3</a:t>
            </a:r>
          </a:p>
          <a:p>
            <a:pPr marL="514350" indent="-514350">
              <a:buFont typeface="+mj-lt"/>
              <a:buAutoNum type="arabicPeriod" startAt="4"/>
            </a:pPr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  <a:p>
            <a:pPr marL="514350" indent="-514350">
              <a:buFont typeface="+mj-lt"/>
              <a:buAutoNum type="arabicPeriod" startAt="4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Strength of evidence strongly determined by (relative) sample size</a:t>
            </a: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Median was 5 obs. per edge (1 &lt;, &gt; 7,000).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F6C95C-5060-E39C-DE6D-542FA012E4DB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J.,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van Holst, R., &amp; Marsman, M. (in press). Statistical evidence in psychological networks: A Bayesian analysis of 294 networks from 126 studies.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Nature Human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410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5E644-4DB5-23B9-AD55-D3E769954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8A7664-602A-9E81-E7A5-706FD042BC20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Limitations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BD0733-21C8-5742-2CE5-7894089F0758}"/>
              </a:ext>
            </a:extLst>
          </p:cNvPr>
          <p:cNvSpPr txBox="1"/>
          <p:nvPr/>
        </p:nvSpPr>
        <p:spPr>
          <a:xfrm>
            <a:off x="637998" y="1385332"/>
            <a:ext cx="11300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 applied a </a:t>
            </a:r>
            <a:r>
              <a:rPr lang="en-US" sz="2800" b="1" dirty="0">
                <a:solidFill>
                  <a:srgbClr val="1F3864"/>
                </a:solidFill>
                <a:latin typeface="Helvetica" pitchFamily="2" charset="0"/>
              </a:rPr>
              <a:t>single-model Bayes Factor 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and GGM to all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87967-EBDB-0150-93BC-569D11891DBD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J.,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van Holst, R., &amp; Marsman, M. (in press). Statistical evidence in psychological networks: A Bayesian analysis of 294 networks from 126 studies.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Nature Human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372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D0ACB-1FA5-D2FC-DED9-1184CA643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C7C02C-7A9E-D6AB-9D83-8AD52FB32AA6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Limitations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15B04C-DD6B-2C9B-76CA-5E98D73312B2}"/>
              </a:ext>
            </a:extLst>
          </p:cNvPr>
          <p:cNvSpPr txBox="1"/>
          <p:nvPr/>
        </p:nvSpPr>
        <p:spPr>
          <a:xfrm>
            <a:off x="637998" y="1385332"/>
            <a:ext cx="1130095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 applied a single-model BF and GGM to all data</a:t>
            </a: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 used arbitrary evidence thresholds</a:t>
            </a:r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5173BA-70A3-685D-B912-AEC42CCE906C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J.,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van Holst, R., &amp; Marsman, M. (in press). Statistical evidence in psychological networks: A Bayesian analysis of 294 networks from 126 studies.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Nature Human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6F0F6D-7B5D-E92B-56F4-2D5642880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407" y="2950438"/>
            <a:ext cx="5725911" cy="312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39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BB419-190A-16DE-9B86-90424A91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148991-C61D-7127-191D-3C3C8B239BE7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Limitations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69E49-DF4B-F229-2BF1-4D33AA191693}"/>
              </a:ext>
            </a:extLst>
          </p:cNvPr>
          <p:cNvSpPr txBox="1"/>
          <p:nvPr/>
        </p:nvSpPr>
        <p:spPr>
          <a:xfrm>
            <a:off x="637998" y="1385332"/>
            <a:ext cx="1130095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 applied a single-model BF and GGM to all data</a:t>
            </a: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 used arbitrary evidence thresholds</a:t>
            </a:r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Unclear generalizability to ”the field”</a:t>
            </a:r>
          </a:p>
          <a:p>
            <a:pPr marL="1371600" lvl="2" indent="-457200">
              <a:buFont typeface="Wingdings" pitchFamily="2" charset="2"/>
              <a:buChar char="à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30% response rate</a:t>
            </a:r>
          </a:p>
          <a:p>
            <a:pPr marL="1371600" lvl="2" indent="-457200">
              <a:buFont typeface="Wingdings" pitchFamily="2" charset="2"/>
              <a:buChar char="à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exclusion criteria</a:t>
            </a: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2CA11E-1485-0078-B987-DC1655E0AE30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J.,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van Holst, R., &amp; Marsman, M. (in press). Statistical evidence in psychological networks: A Bayesian analysis of 294 networks from 126 studies.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Nature Human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1484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0FB26-AE38-C88A-EB57-050411A09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61F7E7C-66CB-AFB7-5BB7-7052D0BAA66C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Limitations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A9F1E-1C0C-F3A1-0CD6-139E2F1FCBEA}"/>
              </a:ext>
            </a:extLst>
          </p:cNvPr>
          <p:cNvSpPr txBox="1"/>
          <p:nvPr/>
        </p:nvSpPr>
        <p:spPr>
          <a:xfrm>
            <a:off x="637998" y="1385332"/>
            <a:ext cx="113009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 applied a single-model BF and GGM to all data</a:t>
            </a: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 used arbitrary evidence thresholds</a:t>
            </a:r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Unclear generalizability to ”the field”</a:t>
            </a:r>
          </a:p>
          <a:p>
            <a:pPr marL="1371600" lvl="2" indent="-457200">
              <a:buFont typeface="Wingdings" pitchFamily="2" charset="2"/>
              <a:buChar char="à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30% response rate</a:t>
            </a:r>
          </a:p>
          <a:p>
            <a:pPr marL="1371600" lvl="2" indent="-457200">
              <a:buFont typeface="Wingdings" pitchFamily="2" charset="2"/>
              <a:buChar char="à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exclusion criteria</a:t>
            </a: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 did not compare to original conclusions</a:t>
            </a: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	</a:t>
            </a:r>
            <a:r>
              <a:rPr lang="en-US" sz="2400" dirty="0">
                <a:solidFill>
                  <a:srgbClr val="1F3864"/>
                </a:solidFill>
                <a:latin typeface="Helvetica" pitchFamily="2" charset="0"/>
                <a:sym typeface="Wingdings" pitchFamily="2" charset="2"/>
              </a:rPr>
              <a:t> Might have indicated uncertainty</a:t>
            </a: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  <a:sym typeface="Wingdings" pitchFamily="2" charset="2"/>
              </a:rPr>
              <a:t>	 Might not have been interested in the structure/edges </a:t>
            </a:r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41BAAC-93CA-A510-FBA4-DEA69A6CE499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J.,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van Holst, R., &amp; Marsman, M. (in press). Statistical evidence in psychological networks: A Bayesian analysis of 294 networks from 126 studies.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Nature Human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546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0B8BE-3358-DF9D-E257-B052FC542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BC4B359-6561-86B1-AD2B-31B7EC1F4E72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What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did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the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reanalysis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reveal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?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E4DD7-72B5-7661-BCFE-DACC33195F72}"/>
              </a:ext>
            </a:extLst>
          </p:cNvPr>
          <p:cNvSpPr txBox="1"/>
          <p:nvPr/>
        </p:nvSpPr>
        <p:spPr>
          <a:xfrm>
            <a:off x="637998" y="1385332"/>
            <a:ext cx="11300959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Bayes factors for most edges were </a:t>
            </a:r>
            <a:r>
              <a:rPr lang="en-NL" altLang="en-NL" sz="2800" b="1" dirty="0">
                <a:solidFill>
                  <a:srgbClr val="1F3864"/>
                </a:solidFill>
                <a:latin typeface="Helvetica" pitchFamily="2" charset="0"/>
              </a:rPr>
              <a:t>small</a:t>
            </a: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 → evidence for inclusion or exclusion often </a:t>
            </a:r>
            <a:r>
              <a:rPr lang="en-NL" altLang="en-NL" sz="2800" b="1" dirty="0">
                <a:solidFill>
                  <a:srgbClr val="1F3864"/>
                </a:solidFill>
                <a:latin typeface="Helvetica" pitchFamily="2" charset="0"/>
              </a:rPr>
              <a:t>inconclusive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As a result, there is </a:t>
            </a:r>
            <a:r>
              <a:rPr lang="en-NL" altLang="en-NL" sz="2800" b="1" dirty="0">
                <a:solidFill>
                  <a:srgbClr val="1F3864"/>
                </a:solidFill>
                <a:latin typeface="Helvetica" pitchFamily="2" charset="0"/>
              </a:rPr>
              <a:t>considerable uncertainty</a:t>
            </a: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 about the overall network structure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Our Bayes factor methods </a:t>
            </a:r>
            <a:r>
              <a:rPr lang="en-NL" altLang="en-NL" sz="2800" b="1" dirty="0">
                <a:solidFill>
                  <a:srgbClr val="1F3864"/>
                </a:solidFill>
                <a:latin typeface="Helvetica" pitchFamily="2" charset="0"/>
              </a:rPr>
              <a:t>ignored multiplicity</a:t>
            </a: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 → overstate confidence in individual edges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Together, this shows the need to </a:t>
            </a:r>
            <a:r>
              <a:rPr lang="en-NL" altLang="en-NL" sz="2800" b="1" dirty="0">
                <a:solidFill>
                  <a:srgbClr val="1F3864"/>
                </a:solidFill>
                <a:latin typeface="Helvetica" pitchFamily="2" charset="0"/>
              </a:rPr>
              <a:t>model structural uncertainty explicitly</a:t>
            </a:r>
            <a:endParaRPr lang="en-NL" altLang="en-NL" sz="28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97F4A8-E26E-89CC-CFD4-5D28AEC7A9B9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Sekulovski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N.,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Wagenmakers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E.-J., van Bork, R., van den Bergh, D., &amp; Marsman, M. (2024). 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Testing Conditional Independence in Psychometric Networks: An Analysis of Three Bayesian Methods.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Multivariate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Behavioral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 Research, 59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913-933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E151A9A-D58F-2945-3A36-218D2B9AB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2821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9CF3E-7DC4-4D91-1B71-9D73C4CED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AB02732-5AE3-0622-BBBA-708CD4889CA4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Existing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models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/priors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for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structures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6B61B3-2B90-655F-E620-DD4399188372}"/>
              </a:ext>
            </a:extLst>
          </p:cNvPr>
          <p:cNvSpPr txBox="1"/>
          <p:nvPr/>
        </p:nvSpPr>
        <p:spPr>
          <a:xfrm>
            <a:off x="637998" y="1385332"/>
            <a:ext cx="11300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C0914C-3163-79FC-AB07-7A6A7977D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CB9329-7C0C-EF3B-B614-3152091C009A}"/>
              </a:ext>
            </a:extLst>
          </p:cNvPr>
          <p:cNvSpPr txBox="1"/>
          <p:nvPr/>
        </p:nvSpPr>
        <p:spPr>
          <a:xfrm>
            <a:off x="358815" y="6137250"/>
            <a:ext cx="118331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Marsman, M., Huth, K.,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Waldorp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L., &amp;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Ntzoufras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I. (2022). Objective Bayesian Edge Screening and Structure Selection for Ising Networks.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Psychometrika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87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47-82.</a:t>
            </a:r>
          </a:p>
          <a:p>
            <a:pPr marL="355600" indent="-355600"/>
            <a:r>
              <a:rPr lang="en-GB" sz="1400" dirty="0">
                <a:solidFill>
                  <a:srgbClr val="1F3864"/>
                </a:solidFill>
              </a:rPr>
              <a:t>Mohammadi, R., &amp; Wit, E. (2019). </a:t>
            </a:r>
            <a:r>
              <a:rPr lang="en-GB" sz="1400" dirty="0" err="1">
                <a:solidFill>
                  <a:srgbClr val="1F3864"/>
                </a:solidFill>
              </a:rPr>
              <a:t>BDgraph</a:t>
            </a:r>
            <a:r>
              <a:rPr lang="en-GB" sz="1400" dirty="0">
                <a:solidFill>
                  <a:srgbClr val="1F3864"/>
                </a:solidFill>
              </a:rPr>
              <a:t>: An R Package for Bayesian Structure Learning in Graphical Models. </a:t>
            </a:r>
            <a:r>
              <a:rPr lang="en-GB" sz="1400" i="1" dirty="0">
                <a:solidFill>
                  <a:srgbClr val="1F3864"/>
                </a:solidFill>
              </a:rPr>
              <a:t>Journal of Statistical Software</a:t>
            </a:r>
            <a:r>
              <a:rPr lang="en-GB" sz="1400" dirty="0">
                <a:solidFill>
                  <a:srgbClr val="1F3864"/>
                </a:solidFill>
              </a:rPr>
              <a:t>, </a:t>
            </a:r>
            <a:r>
              <a:rPr lang="en-GB" sz="1400" i="1" dirty="0">
                <a:solidFill>
                  <a:srgbClr val="1F3864"/>
                </a:solidFill>
              </a:rPr>
              <a:t>89</a:t>
            </a:r>
            <a:r>
              <a:rPr lang="en-GB" sz="1400" dirty="0">
                <a:solidFill>
                  <a:srgbClr val="1F3864"/>
                </a:solidFill>
              </a:rPr>
              <a:t>, 1–30.</a:t>
            </a:r>
            <a:endParaRPr lang="en-NL" sz="1400" dirty="0">
              <a:solidFill>
                <a:srgbClr val="1F3864"/>
              </a:solidFill>
              <a:latin typeface="Helvetica" pitchFamily="2" charset="0"/>
            </a:endParaRPr>
          </a:p>
          <a:p>
            <a:pPr marL="355600" indent="-355600"/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A7CC8A-DB6E-EE29-59DA-57BA13E69471}"/>
              </a:ext>
            </a:extLst>
          </p:cNvPr>
          <p:cNvSpPr txBox="1"/>
          <p:nvPr/>
        </p:nvSpPr>
        <p:spPr>
          <a:xfrm>
            <a:off x="637998" y="1385332"/>
            <a:ext cx="11300959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The independent Bernoulli model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Here, </a:t>
            </a:r>
            <a:r>
              <a:rPr lang="en-NL" altLang="en-NL" sz="2800" i="1" dirty="0">
                <a:solidFill>
                  <a:srgbClr val="1F3864"/>
                </a:solidFill>
                <a:latin typeface="Helvetica" pitchFamily="2" charset="0"/>
              </a:rPr>
              <a:t>k</a:t>
            </a: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 is number of active edges, </a:t>
            </a:r>
            <a:r>
              <a:rPr lang="en-NL" altLang="en-NL" sz="2800" i="1" dirty="0">
                <a:solidFill>
                  <a:srgbClr val="1F3864"/>
                </a:solidFill>
                <a:latin typeface="Helvetica" pitchFamily="2" charset="0"/>
              </a:rPr>
              <a:t>m</a:t>
            </a: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 total number of edges. But what is the inclusion probability?</a:t>
            </a: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CDDBCE-6AB1-9DFA-196D-95BA1CC8F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551140"/>
            <a:ext cx="7772400" cy="175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739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CE4F8-384C-54DB-B400-083434652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BF2E95-86E2-A6A5-2948-31EF0FE9FF20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Existing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models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/priors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for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structures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8EEE5D-2218-30A9-1B3A-1A97DA80B3F0}"/>
              </a:ext>
            </a:extLst>
          </p:cNvPr>
          <p:cNvSpPr txBox="1"/>
          <p:nvPr/>
        </p:nvSpPr>
        <p:spPr>
          <a:xfrm>
            <a:off x="637998" y="1385332"/>
            <a:ext cx="11300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785C3D0-F04E-BC62-2C3A-DFE68A41B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06BCED-FCF4-968B-6E3C-8D9152ECD28D}"/>
              </a:ext>
            </a:extLst>
          </p:cNvPr>
          <p:cNvSpPr txBox="1"/>
          <p:nvPr/>
        </p:nvSpPr>
        <p:spPr>
          <a:xfrm>
            <a:off x="358815" y="6356706"/>
            <a:ext cx="11833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Marsman, M., Huth, K.,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Waldorp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L., &amp;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Ntzoufras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I. (2022). Objective Bayesian Edge Screening and Structure Selection for Ising Networks.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Psychometrika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87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47-82.</a:t>
            </a:r>
            <a:endParaRPr lang="en-NL" sz="1400" dirty="0">
              <a:solidFill>
                <a:srgbClr val="1F3864"/>
              </a:solidFill>
              <a:latin typeface="Helvetica" pitchFamily="2" charset="0"/>
            </a:endParaRPr>
          </a:p>
          <a:p>
            <a:pPr marL="355600" indent="-355600"/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46D09A-CC43-32E6-3A0F-BFE48BF22F30}"/>
              </a:ext>
            </a:extLst>
          </p:cNvPr>
          <p:cNvSpPr txBox="1"/>
          <p:nvPr/>
        </p:nvSpPr>
        <p:spPr>
          <a:xfrm>
            <a:off x="637998" y="1385332"/>
            <a:ext cx="1130095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The Beta-Bernoulli model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Here, </a:t>
            </a:r>
            <a:r>
              <a:rPr lang="en-NL" altLang="en-NL" sz="2800" i="1" dirty="0">
                <a:solidFill>
                  <a:srgbClr val="1F3864"/>
                </a:solidFill>
                <a:latin typeface="Helvetica" pitchFamily="2" charset="0"/>
              </a:rPr>
              <a:t>k</a:t>
            </a: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 is number of active edges, </a:t>
            </a:r>
            <a:r>
              <a:rPr lang="en-NL" altLang="en-NL" sz="2800" i="1" dirty="0">
                <a:solidFill>
                  <a:srgbClr val="1F3864"/>
                </a:solidFill>
                <a:latin typeface="Helvetica" pitchFamily="2" charset="0"/>
              </a:rPr>
              <a:t>m</a:t>
            </a: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 total number of edges. </a:t>
            </a: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3B265E-13BA-53E3-4DC3-FA3AF1B7C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065" y="2234517"/>
            <a:ext cx="9894683" cy="20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8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38993-94A3-2EC6-90D6-2FCAFA6D3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486A8DE-58ED-2566-C60E-4139301438AD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Existing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models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/priors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for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structures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5DEEA-5EE5-B4B7-2CE3-9B208230669C}"/>
              </a:ext>
            </a:extLst>
          </p:cNvPr>
          <p:cNvSpPr txBox="1"/>
          <p:nvPr/>
        </p:nvSpPr>
        <p:spPr>
          <a:xfrm>
            <a:off x="637998" y="1385332"/>
            <a:ext cx="11300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4F45836-57E1-96ED-05A1-460D9DA79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CB3EB-70D7-05C8-2BE4-2C2A8B2A38A0}"/>
              </a:ext>
            </a:extLst>
          </p:cNvPr>
          <p:cNvSpPr txBox="1"/>
          <p:nvPr/>
        </p:nvSpPr>
        <p:spPr>
          <a:xfrm>
            <a:off x="358815" y="6356706"/>
            <a:ext cx="11833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Marsman, M., Huth, K.,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Waldorp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L., &amp;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Ntzoufras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I. (2022). Objective Bayesian Edge Screening and Structure Selection for Ising Networks.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Psychometrika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87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47-82.</a:t>
            </a:r>
            <a:endParaRPr lang="en-NL" sz="1400" dirty="0">
              <a:solidFill>
                <a:srgbClr val="1F3864"/>
              </a:solidFill>
              <a:latin typeface="Helvetica" pitchFamily="2" charset="0"/>
            </a:endParaRPr>
          </a:p>
          <a:p>
            <a:pPr marL="355600" indent="-355600"/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6CF9EC-CDFE-431F-ED0C-CF3E8F2F3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065708"/>
            <a:ext cx="7772400" cy="472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594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DA176-9EDC-7374-4EA9-CB04CF819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97CF26E-ADE3-07F7-7A5E-C0193D45840F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Existing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models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/priors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for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structures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49DD9B-9188-4913-F7C9-4A749F38CF98}"/>
              </a:ext>
            </a:extLst>
          </p:cNvPr>
          <p:cNvSpPr txBox="1"/>
          <p:nvPr/>
        </p:nvSpPr>
        <p:spPr>
          <a:xfrm>
            <a:off x="637998" y="1385332"/>
            <a:ext cx="11300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F936A25-AB11-BF4A-F530-FF4165CAA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75E76-47F1-9524-BD65-37ECA5CBAE70}"/>
              </a:ext>
            </a:extLst>
          </p:cNvPr>
          <p:cNvSpPr txBox="1"/>
          <p:nvPr/>
        </p:nvSpPr>
        <p:spPr>
          <a:xfrm>
            <a:off x="358815" y="6356706"/>
            <a:ext cx="11833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Marsman, M., Huth, K.,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Waldorp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L., &amp;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Ntzoufras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I. (2022). Objective Bayesian Edge Screening and Structure Selection for Ising Networks.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Psychometrika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87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47-82.</a:t>
            </a:r>
            <a:endParaRPr lang="en-NL" sz="1400" dirty="0">
              <a:solidFill>
                <a:srgbClr val="1F3864"/>
              </a:solidFill>
              <a:latin typeface="Helvetica" pitchFamily="2" charset="0"/>
            </a:endParaRPr>
          </a:p>
          <a:p>
            <a:pPr marL="355600" indent="-355600"/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B3F4D7-B548-0B40-E830-D4220E4FC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065708"/>
            <a:ext cx="7772400" cy="472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78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653F5-0C9F-CB40-6B6D-687FF99C3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2EFA61C-C46C-A65C-FBE3-E178CA3EB094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Existing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models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/priors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for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structures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9F042D-A54C-4936-64A7-90E70D6F36A1}"/>
              </a:ext>
            </a:extLst>
          </p:cNvPr>
          <p:cNvSpPr txBox="1"/>
          <p:nvPr/>
        </p:nvSpPr>
        <p:spPr>
          <a:xfrm>
            <a:off x="637998" y="1385332"/>
            <a:ext cx="11300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27A68AE-5AB2-16DD-57D9-D90102524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C4971-7DAA-2A5E-EE22-EE0027E29704}"/>
              </a:ext>
            </a:extLst>
          </p:cNvPr>
          <p:cNvSpPr txBox="1"/>
          <p:nvPr/>
        </p:nvSpPr>
        <p:spPr>
          <a:xfrm>
            <a:off x="358815" y="6356706"/>
            <a:ext cx="11833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Marsman, M., Huth, K.,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Waldorp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L., &amp;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Ntzoufras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I. (2022). Objective Bayesian Edge Screening and Structure Selection for Ising Networks.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Psychometrika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87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47-82.</a:t>
            </a:r>
            <a:endParaRPr lang="en-NL" sz="1400" dirty="0">
              <a:solidFill>
                <a:srgbClr val="1F3864"/>
              </a:solidFill>
              <a:latin typeface="Helvetica" pitchFamily="2" charset="0"/>
            </a:endParaRPr>
          </a:p>
          <a:p>
            <a:pPr marL="355600" indent="-355600"/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476F56-82AB-EAA9-59E1-A9F1FC5E9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065708"/>
            <a:ext cx="7772400" cy="472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65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149C9-9652-BE04-AE58-422CBE0BC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85E0442-0B20-2A9D-424E-5ED25D2CD64D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Existing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models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/priors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for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structures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61286-956D-38DB-9AF0-7BEA8ED0DBBF}"/>
              </a:ext>
            </a:extLst>
          </p:cNvPr>
          <p:cNvSpPr txBox="1"/>
          <p:nvPr/>
        </p:nvSpPr>
        <p:spPr>
          <a:xfrm>
            <a:off x="637998" y="1385332"/>
            <a:ext cx="11300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D8035B1-53D0-F278-5F62-E0F7731BA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B4E2D9-4255-D8D1-F98D-A93BB2362192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Sekulovski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N., Arena, G., Mr.,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J., Huth, K., Friel, N., &amp; Marsman, M. (2025). A Stochastic Block Prior for Clustering in Graphical Models. Preprint: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doi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: 10.31234/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osf.io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/29p3m_v1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3E2D62-7474-801A-2796-D2ED2654EE2F}"/>
              </a:ext>
            </a:extLst>
          </p:cNvPr>
          <p:cNvSpPr txBox="1"/>
          <p:nvPr/>
        </p:nvSpPr>
        <p:spPr>
          <a:xfrm>
            <a:off x="637998" y="1385332"/>
            <a:ext cx="1130095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The Stochastic-Block model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Here, </a:t>
            </a:r>
            <a:r>
              <a:rPr lang="en-NL" altLang="en-NL" sz="2800" i="1" dirty="0">
                <a:solidFill>
                  <a:srgbClr val="1F3864"/>
                </a:solidFill>
                <a:latin typeface="Helvetica" pitchFamily="2" charset="0"/>
              </a:rPr>
              <a:t>z</a:t>
            </a: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 are cluster allocations, </a:t>
            </a:r>
            <a:r>
              <a:rPr lang="en-NL" altLang="en-NL" sz="2800" i="1" dirty="0">
                <a:solidFill>
                  <a:srgbClr val="1F3864"/>
                </a:solidFill>
                <a:latin typeface="Helvetica" pitchFamily="2" charset="0"/>
              </a:rPr>
              <a:t>m</a:t>
            </a: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 total number of clusters (blocks). </a:t>
            </a: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0203CD-6269-01DA-7B40-BA2305E35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236335"/>
            <a:ext cx="7772400" cy="38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010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AA987-3652-96EC-16CA-1DC1C67E0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DE7EF08-676B-29F0-00F7-86DDB1DB3B6F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Existing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models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/priors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for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structures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240B69-AA43-4715-A9D0-1D3CCE019B3B}"/>
              </a:ext>
            </a:extLst>
          </p:cNvPr>
          <p:cNvSpPr txBox="1"/>
          <p:nvPr/>
        </p:nvSpPr>
        <p:spPr>
          <a:xfrm>
            <a:off x="637998" y="1385332"/>
            <a:ext cx="11300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A345B76-BFEE-59F0-A4ED-32B332B72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B4430A-4EBC-5430-2886-BF87F67C2AC3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Sekulovski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N., Arena, G., Mr.,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J., Huth, K., Friel, N., &amp; Marsman, M. (2025). A Stochastic Block Prior for Clustering in Graphical Models. Preprint: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doi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: 10.31234/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osf.io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/29p3m_v1</a:t>
            </a:r>
          </a:p>
        </p:txBody>
      </p:sp>
      <p:pic>
        <p:nvPicPr>
          <p:cNvPr id="9" name="Picture 8" descr="A network of colored circles and lines&#10;&#10;AI-generated content may be incorrect.">
            <a:extLst>
              <a:ext uri="{FF2B5EF4-FFF2-40B4-BE49-F238E27FC236}">
                <a16:creationId xmlns:a16="http://schemas.microsoft.com/office/drawing/2014/main" id="{6D4A0BD8-28EE-02B4-195D-9F62E6D2D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905" y="1328580"/>
            <a:ext cx="5270913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3842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F1A01-37B1-1C1A-FD53-8F38D1185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A9ABF87-A898-EC71-F564-85F19FD8BC44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From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edge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evidence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to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topological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priors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A49C6-D1DC-635C-B53F-73736D292C3C}"/>
              </a:ext>
            </a:extLst>
          </p:cNvPr>
          <p:cNvSpPr txBox="1"/>
          <p:nvPr/>
        </p:nvSpPr>
        <p:spPr>
          <a:xfrm>
            <a:off x="637998" y="1385332"/>
            <a:ext cx="113009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Why this matters</a:t>
            </a:r>
            <a:endParaRPr lang="en-NL" sz="2400" dirty="0">
              <a:solidFill>
                <a:srgbClr val="1F3864"/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Network structures show </a:t>
            </a:r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large uncertainty</a:t>
            </a: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Existing (Bayesian) methods </a:t>
            </a:r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ignore multiplicity</a:t>
            </a: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We need to </a:t>
            </a:r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model uncertainty at the structural level</a:t>
            </a: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.</a:t>
            </a:r>
          </a:p>
          <a:p>
            <a:endParaRPr lang="en-NL" sz="2400" b="1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What we will do in the tutorial</a:t>
            </a:r>
            <a:endParaRPr lang="en-NL" sz="2400" dirty="0">
              <a:solidFill>
                <a:srgbClr val="1F3864"/>
              </a:solidFill>
              <a:latin typeface="Helvetica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Learn how to </a:t>
            </a:r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represent beliefs about topology</a:t>
            </a: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 using priors.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See how priors provide </a:t>
            </a:r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automatic multiplicity correction</a:t>
            </a: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Explore three key priors:</a:t>
            </a:r>
            <a:br>
              <a:rPr lang="en-NL" sz="2400" dirty="0">
                <a:solidFill>
                  <a:srgbClr val="1F3864"/>
                </a:solidFill>
                <a:latin typeface="Helvetica" pitchFamily="2" charset="0"/>
              </a:rPr>
            </a:b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– </a:t>
            </a:r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Bernoulli</a:t>
            </a: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 → overall density</a:t>
            </a:r>
            <a:br>
              <a:rPr lang="en-NL" sz="2400" dirty="0">
                <a:solidFill>
                  <a:srgbClr val="1F3864"/>
                </a:solidFill>
                <a:latin typeface="Helvetica" pitchFamily="2" charset="0"/>
              </a:rPr>
            </a:b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– </a:t>
            </a:r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Beta–Bernoulli</a:t>
            </a: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 → balanced complexity</a:t>
            </a:r>
            <a:br>
              <a:rPr lang="en-NL" sz="2400" dirty="0">
                <a:solidFill>
                  <a:srgbClr val="1F3864"/>
                </a:solidFill>
                <a:latin typeface="Helvetica" pitchFamily="2" charset="0"/>
              </a:rPr>
            </a:b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– </a:t>
            </a:r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Stochastic Block Model (SBM)</a:t>
            </a: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 → clustering &amp; domains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E279AC0-B07D-EC11-6A1B-BDA23176D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083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BD477-8047-D3D9-7946-982981194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8675E-C9F2-C0EA-C08A-865227732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1A3F3E-CC72-D8AB-26BC-80736123B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35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5B3C16-AADE-D338-19B9-0F89CB0FA785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949C80E-5356-3CCE-D5B8-EA800B57D7A5}"/>
              </a:ext>
            </a:extLst>
          </p:cNvPr>
          <p:cNvGrpSpPr/>
          <p:nvPr/>
        </p:nvGrpSpPr>
        <p:grpSpPr>
          <a:xfrm>
            <a:off x="5328372" y="2305032"/>
            <a:ext cx="4297780" cy="2532944"/>
            <a:chOff x="6625622" y="2162528"/>
            <a:chExt cx="4297780" cy="253294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0B7D90E-61E9-FDD5-BF4B-C9B6A0A92AF0}"/>
                </a:ext>
              </a:extLst>
            </p:cNvPr>
            <p:cNvGrpSpPr/>
            <p:nvPr/>
          </p:nvGrpSpPr>
          <p:grpSpPr>
            <a:xfrm>
              <a:off x="6625622" y="2162528"/>
              <a:ext cx="4297780" cy="2532944"/>
              <a:chOff x="4115174" y="2349000"/>
              <a:chExt cx="4297780" cy="2532944"/>
            </a:xfrm>
          </p:grpSpPr>
          <p:pic>
            <p:nvPicPr>
              <p:cNvPr id="25" name="Picture 24" descr="Icon&#10;&#10;Description automatically generated">
                <a:extLst>
                  <a:ext uri="{FF2B5EF4-FFF2-40B4-BE49-F238E27FC236}">
                    <a16:creationId xmlns:a16="http://schemas.microsoft.com/office/drawing/2014/main" id="{290B6C65-6E7F-CFC9-5E75-94B6309A9D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6000" y="2349000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CBAD35-0B3B-89E9-ED87-BFE7C2449D02}"/>
                  </a:ext>
                </a:extLst>
              </p:cNvPr>
              <p:cNvSpPr txBox="1"/>
              <p:nvPr/>
            </p:nvSpPr>
            <p:spPr>
              <a:xfrm>
                <a:off x="4115174" y="4358724"/>
                <a:ext cx="42977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II: Tutorial / Practical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A43391A-5A7C-E2F4-2448-6D88DE329171}"/>
                </a:ext>
              </a:extLst>
            </p:cNvPr>
            <p:cNvGrpSpPr/>
            <p:nvPr/>
          </p:nvGrpSpPr>
          <p:grpSpPr>
            <a:xfrm>
              <a:off x="9200738" y="2461664"/>
              <a:ext cx="1722664" cy="1506816"/>
              <a:chOff x="8667171" y="2349000"/>
              <a:chExt cx="1722664" cy="1506816"/>
            </a:xfrm>
          </p:grpSpPr>
          <p:pic>
            <p:nvPicPr>
              <p:cNvPr id="15" name="Picture 14" descr="Icon&#10;&#10;Description automatically generated">
                <a:extLst>
                  <a:ext uri="{FF2B5EF4-FFF2-40B4-BE49-F238E27FC236}">
                    <a16:creationId xmlns:a16="http://schemas.microsoft.com/office/drawing/2014/main" id="{CD548D86-99EA-4555-7A18-B52424732D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C9EA09F-BF63-C6EF-43C3-24C7D01B5FB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6C2A42E8-03B0-FEE8-00F8-CA3D0F43F5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A746FAD2-9EE0-A484-61EF-97C9140045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218836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1797</Words>
  <Application>Microsoft Macintosh PowerPoint</Application>
  <PresentationFormat>Widescreen</PresentationFormat>
  <Paragraphs>241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Helvetica</vt:lpstr>
      <vt:lpstr>Proxima Nova</vt:lpstr>
      <vt:lpstr>Wingdings</vt:lpstr>
      <vt:lpstr>Office Theme</vt:lpstr>
      <vt:lpstr>Bayesian Graphical Modeling </vt:lpstr>
      <vt:lpstr>Session setup</vt:lpstr>
      <vt:lpstr>Session setup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Session setup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Maarten Marsman</dc:creator>
  <cp:lastModifiedBy>Maarten Marsman</cp:lastModifiedBy>
  <cp:revision>15</cp:revision>
  <dcterms:created xsi:type="dcterms:W3CDTF">2023-01-24T10:14:29Z</dcterms:created>
  <dcterms:modified xsi:type="dcterms:W3CDTF">2025-10-04T11:56:41Z</dcterms:modified>
</cp:coreProperties>
</file>