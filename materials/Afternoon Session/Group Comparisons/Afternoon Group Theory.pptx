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346" r:id="rId2"/>
    <p:sldId id="689" r:id="rId3"/>
    <p:sldId id="660" r:id="rId4"/>
    <p:sldId id="836" r:id="rId5"/>
    <p:sldId id="852" r:id="rId6"/>
    <p:sldId id="853" r:id="rId7"/>
    <p:sldId id="834" r:id="rId8"/>
    <p:sldId id="840" r:id="rId9"/>
    <p:sldId id="838" r:id="rId10"/>
    <p:sldId id="839" r:id="rId11"/>
    <p:sldId id="747" r:id="rId12"/>
    <p:sldId id="841" r:id="rId13"/>
    <p:sldId id="842" r:id="rId14"/>
    <p:sldId id="843" r:id="rId15"/>
    <p:sldId id="733" r:id="rId16"/>
    <p:sldId id="811" r:id="rId17"/>
    <p:sldId id="812" r:id="rId18"/>
    <p:sldId id="813" r:id="rId19"/>
    <p:sldId id="810" r:id="rId20"/>
    <p:sldId id="802" r:id="rId21"/>
    <p:sldId id="814" r:id="rId22"/>
    <p:sldId id="816" r:id="rId23"/>
    <p:sldId id="844" r:id="rId24"/>
    <p:sldId id="845" r:id="rId25"/>
    <p:sldId id="846" r:id="rId26"/>
    <p:sldId id="847" r:id="rId27"/>
    <p:sldId id="826" r:id="rId28"/>
    <p:sldId id="824" r:id="rId29"/>
    <p:sldId id="830" r:id="rId30"/>
    <p:sldId id="831" r:id="rId31"/>
    <p:sldId id="832" r:id="rId32"/>
    <p:sldId id="837" r:id="rId33"/>
    <p:sldId id="850" r:id="rId34"/>
    <p:sldId id="851" r:id="rId35"/>
    <p:sldId id="849" r:id="rId36"/>
    <p:sldId id="854" r:id="rId3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C65A11"/>
    <a:srgbClr val="BFBFBF"/>
    <a:srgbClr val="66C2A5"/>
    <a:srgbClr val="FBAF4F"/>
    <a:srgbClr val="FC8E62"/>
    <a:srgbClr val="8EA0CB"/>
    <a:srgbClr val="5885A2"/>
    <a:srgbClr val="87A2BA"/>
    <a:srgbClr val="D69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46"/>
    <p:restoredTop sz="94645"/>
  </p:normalViewPr>
  <p:slideViewPr>
    <p:cSldViewPr snapToGrid="0">
      <p:cViewPr>
        <p:scale>
          <a:sx n="100" d="100"/>
          <a:sy n="100" d="100"/>
        </p:scale>
        <p:origin x="96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29AB5-5FA3-4B46-8951-7B0917454F47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78420-72E8-E74B-835B-650A0332FEF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555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4F3E7-B6ED-4CED-11AD-06C70F8F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C7201-496D-4F89-8C78-37DD548DF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2CAE4-3917-AA10-A921-432B5B475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3A1E-C3E5-8806-AC02-2DB2A2BCA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42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BD03-93BD-2356-DE23-A584037E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5B10B-2508-1A2D-C838-813AD7811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935EF-3DB3-51C3-FD5F-421AD3EAC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0E16C-C03B-B78F-F785-F303B806B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118D-5708-F07F-44CC-7E1A8A20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B43B7-91C4-9989-A06D-01B6924F1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C920B-46CE-BC9A-28CF-43969CCA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A0DD7-4888-9D12-01FF-5B5F97232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16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82B3B-F3B1-BA7E-E802-E48016A1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5F815-CDE4-73F4-1D18-ACEA2D987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1C2F8-ED2D-4610-006F-6C5E48B41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2B777-EC72-4394-471E-539C32622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10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9690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D415-C3BD-FEC7-274C-50178141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F1E70-A854-6190-3E12-11BD4D75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2253C-A5CA-51D7-B485-156E158E4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6BDA3-D8C3-131D-1236-545DECD77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3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3BD1-1769-F24B-9F55-52CEB8C13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143FB-5927-8F4D-BF54-6CECB83A7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6914C-677D-A645-9788-A9FF82C1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C00CA-BD5A-9245-B5B2-5B060C41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0F382-5686-B64C-A0C0-0077389A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187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5986-502F-9741-80B9-FEC6F165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2045-25CF-8245-BF2C-B729461B6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7EDC6-0184-864B-8B97-4B4A5298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FD3C9-B034-3B4A-8D7C-2AF64D93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E04C-60B5-B145-AFC7-70EBD89D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87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9CE24-6D17-3349-A218-8C91030A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34F18-E0FB-714D-934B-632F1B8F1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C153-4F92-C749-B838-D46F8A7A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0CE44-C669-D14D-AC90-4045CB4C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7577E-25B4-3C43-8984-998FA5FE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953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B18C-64D9-DF47-96F1-8BA2602C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3F94-5A70-B54D-81A5-FCB5ABE70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9B432-4702-5748-BC5C-A935291BC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2EB8E-0C88-CE40-B9D6-95AAA0A1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5521E-0616-CF41-A2B6-419EC9D3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547DB-A34E-6D45-B99D-D9E0E49E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735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4E37-7609-7746-ACED-7932DCFA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B31E5-ECF9-DA47-B3F2-6779C5CB7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50BC3-999C-BE4E-96AE-7AF1C81F8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2CB1A-4F75-5F4F-BCB8-B6AC67CB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2E23F-D201-0941-852A-24F2E0140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7046F7-EFBB-9E4E-82AE-875B5AD6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BD6A9-540A-0E40-B24D-589F6F02C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51B42-B36A-E243-B628-AA3CDFC1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25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9164-E7B7-1943-B53B-A1AA4677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CAD2E-CB80-1E46-9D1A-25DA9C89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D9CE2-E021-E842-A21E-F92AA5C2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A5590-CFA3-564A-BF34-6419C689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715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C4B4C-3F36-F148-B8D8-1F00CDE3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07B88-AF6D-1E49-B945-63035BF2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D5DE6-16A3-E64F-B8A6-3C09A7AB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699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AC42-B947-D943-A81A-98189FD3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0493-94E4-B84F-BEBF-4EAF06F82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CF190-DF49-014C-AA7E-3AAB45852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83008-DB04-E742-BA5B-E0BBE18F2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374C3-3408-7D44-A0B8-1D157E11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BAC42-AB30-EA47-A5C4-68172282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638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9933-6A93-594A-BF88-CF71D12C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9E230-2ACB-CB47-B40C-C4CE132D8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E2B6A-FF4F-6647-B43D-BB1B2952D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ACD45-1AE2-944A-93A1-F6697F6B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98C4B-6525-B448-9F5C-4372860E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7A6C0-5DEA-7742-BED0-D392E26C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737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5E57-F0AB-6547-99C0-EFA00382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28F5F-DC05-5F45-9143-C1D5E35D3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88E14-7493-8046-91E0-393F7EA5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C4E1-01EF-AE48-A38A-80561D75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5D955-D3CD-0C4F-9C1A-B8A222D3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28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7E0F5-365F-2F45-9B64-6747A0C44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8B65E-7ED7-204C-A73E-B604D9623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DE4B-53B8-594D-8EB6-8385350A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6C6-A734-7A45-8E79-736D15F44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F640-53F9-0147-8B5D-D2D3F806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080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67671-6197-6942-B3BA-F828D65B7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36669-8D8C-104D-AD37-505D6B2A8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E17D1-8427-2C4A-A4FC-0C369A934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8BD01-8B38-0848-98C7-E6F1B4D0BBD0}" type="datetimeFigureOut">
              <a:rPr lang="en-NL" smtClean="0"/>
              <a:t>27/01/2026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E2B5-F0F2-B646-85AC-333FEFE71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30F05-EF79-7E4C-B9E0-BA6E8090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391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5AC5EF-8EE6-11CC-4874-529A8CF87034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7B32E-17D6-495D-2F9B-41D316BDE8CA}"/>
              </a:ext>
            </a:extLst>
          </p:cNvPr>
          <p:cNvSpPr txBox="1"/>
          <p:nvPr/>
        </p:nvSpPr>
        <p:spPr>
          <a:xfrm>
            <a:off x="111337" y="5380672"/>
            <a:ext cx="478015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PsyNets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</a:t>
            </a:r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Winterschool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2026</a:t>
            </a:r>
          </a:p>
          <a:p>
            <a:pPr algn="l"/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m.marsman@uva.nl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C81050D-F144-F968-44D6-D886102912CD}"/>
              </a:ext>
            </a:extLst>
          </p:cNvPr>
          <p:cNvSpPr txBox="1">
            <a:spLocks/>
          </p:cNvSpPr>
          <p:nvPr/>
        </p:nvSpPr>
        <p:spPr>
          <a:xfrm>
            <a:off x="1287138" y="2472512"/>
            <a:ext cx="9617725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Network Comparisons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27CBED9C-4C45-BA22-1B96-8335E9DB7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888158-E645-1D09-999B-272B9B8D7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4BE54614-E008-4B3F-14AC-E570EC6C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3C454221-6D9A-E6A3-BD15-2CCBDCB29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22" name="Picture 2" descr="logo NWO">
            <a:extLst>
              <a:ext uri="{FF2B5EF4-FFF2-40B4-BE49-F238E27FC236}">
                <a16:creationId xmlns:a16="http://schemas.microsoft.com/office/drawing/2014/main" id="{5A7DB9BE-4ACD-730F-E45E-A229E72DF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6C1D4F4B-ADC2-ED85-B97F-DD7282DB3A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5CA4-FF22-A65A-CCF9-8B2E0099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5265C2C-7BBC-B266-535D-B69DE623316E}"/>
              </a:ext>
            </a:extLst>
          </p:cNvPr>
          <p:cNvSpPr txBox="1"/>
          <p:nvPr/>
        </p:nvSpPr>
        <p:spPr>
          <a:xfrm>
            <a:off x="4695465" y="4235084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FD2ED-0A6E-8334-7BD6-AB04FE3A4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4EA24-D9D4-830E-B2E5-6673A581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89F2B2D-EFAC-8C5E-ABE0-CC1273C8A25B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C44E357-C3B6-135F-EA9F-A194583D7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4055994-895A-4D30-0A58-A4A53F962C76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4E90D30-9E1F-8473-DB92-E202AEA9D5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6464A8-6D78-E5B9-074A-FFF0890B9E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E240D7E-56CA-07D7-B4DB-549DBD48ED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7D51638-9E8A-EDA6-D884-CDF37D39B5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8C5D0E3-8AA4-D9FD-0BA5-31420D516A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0C9AB5B-078E-FB39-392F-5E13EEE8D7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4101C62-23AE-8257-4B6E-72D449DCEAA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FDBA969-2D72-38B9-0760-D9BA59EF5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EA8DD78-8569-9AC7-957C-82691F4F2E13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B9D147F3-E0EC-64DE-D7BD-D27D1DA5A6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4F17207-D493-9D6C-A41F-310B2A2B11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5565AC3-D318-7576-0862-BDB47E55FB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A3DE2D3-7244-FDD1-C8D5-2E46439883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85FB4AA-7404-7DEB-0DE1-914B50A98D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049CD3C-8B3F-0B5F-1D55-7C4231F0B2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2EE917B-F5BE-87B5-8264-108383269D4D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A2A909C-6636-C3F4-4C81-38E1D38D76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E0FA00F-75C2-0E2A-907B-CBEB0C7F8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277177D-BAD9-3E5C-0D7A-0DDC27826025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2ADE1B54-FD41-AC5E-00EC-EE82511931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96C1464F-BB67-27E5-2130-0E090E571F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1F173601-8E2D-1D8C-DDB6-7BE256C00D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38439B2-157D-47AB-D26D-F0AFC2AD4E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4D7A63-05DF-630D-1C60-2EB92EBC25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6D883B7-9EA2-674E-2CE1-73F3B3F46F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5432B27-6967-9C20-27B7-8B3299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70187-E15F-E985-3EF9-C24ACBA35C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2A30D8C-6BD5-5FF5-FBC1-2EF04338A1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9AAE925-4B72-992A-E8AF-A5E6FCA9CB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4D9434F-7AC3-D18F-FFF6-64D6AB35F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0F87E89-935F-CC76-D7B6-B5EE7DE56A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AAAEFCAD-53A5-E88E-3EFC-27BCE56E6D7F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8DF25C1-842C-7846-E0BF-1382D20B5DF2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EB1F313-C9D7-D2B7-85B2-B36F3CFA9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339ED1B-BB8A-FF45-A871-6E6B730D2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23DE68F-DF37-87BA-7F62-6780F8F06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778D2524-E039-5EAF-84C5-F64D9EC50E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98D621B-0E5A-F243-9137-53C43E821775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8A09B7F-3848-2174-FC35-D717EA3DF950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0B8F5FA-99CD-E263-32E1-391F97A37D27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E9A51EB-50CB-11A9-49FC-AC7C48D081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0D7AE92-9D90-4AA5-1B72-34FA716733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7518FD0-F687-44FA-4187-0E534D023B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6F26A19-F283-5AFE-B67C-F7A3CE33F5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C701FD13-952B-DD7A-EABD-73E220D64D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309AA49-E44C-BB3D-C6F1-BB85B35E0017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8FC8E25-B83D-3DF8-810D-805A788C0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B70F02-75BA-6893-803E-0580C1C0BB9A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74763BB-A30B-66A1-C09C-67DB821E6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4FC5937-E848-912E-91FB-639824E5B012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FF80B4A-9F37-506B-C159-A4D90457D510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AFA0D93-D7B9-4E4B-5F2D-0465E911040D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D3A04AB-99B4-1781-1E88-75AB18D8D76D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DF946B3C-630F-FF48-2853-C1500DAE9461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D8E25888-C183-F28F-8D09-3DB13A6788EF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4E2CE01-7A5F-2B71-BA16-5E4D3F073F0D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6291334-11BF-5C34-1A46-3CD1238413E7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DF4A723-BE84-EF41-88B9-325A82260899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502313-EDFE-567E-11AB-10E8353FB87C}"/>
              </a:ext>
            </a:extLst>
          </p:cNvPr>
          <p:cNvSpPr/>
          <p:nvPr/>
        </p:nvSpPr>
        <p:spPr>
          <a:xfrm>
            <a:off x="4149364" y="1155959"/>
            <a:ext cx="8042636" cy="44099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91019D-99A1-F024-AD93-8276649DEA7F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</p:spTree>
    <p:extLst>
      <p:ext uri="{BB962C8B-B14F-4D97-AF65-F5344CB8AC3E}">
        <p14:creationId xmlns:p14="http://schemas.microsoft.com/office/powerpoint/2010/main" val="337707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C19620F-9FB4-CA9D-1D9A-FFE1AC49B555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2AAB62-BDB5-B46E-C31D-195C635DF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E3C1326-AC61-C55B-C901-4687494B3F4A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D37DB5E-AE9D-8CC9-590B-1B0DE9AA9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8A8CE4-9085-EA1B-93D7-FF146FFF5E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5FA4D8C-95FA-CDAA-1AF0-3EE2E0417C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59277A2-624C-B422-ABEE-C9C20FDD41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C7AFD26-33BB-1033-8223-CE915CFF81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1898E7D-3E0D-6D9F-1384-15CDB25C62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E095CD-08E0-A8E6-4D4F-C61CE71861F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7CC0683-ADA7-DA87-3E94-FEF55874F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31BB3B7-BD31-3FAE-FFD2-76C637ABD646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A95EA87-7483-F465-E581-8F79F0E9A2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D15850A3-2DBB-3EB8-5CED-A63FEBBFC8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56E908-3A6E-B759-ABB0-0917C7B631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C5D0FB5-D944-03B9-849B-A843AD5AC9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12737FF-6FF8-0749-4080-87420A685E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B54A9A-AD0E-2350-83AA-D20C2FB468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AAF0BB-7085-F9A4-6D12-DC36DDBC375B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4E7AEEE-9AA7-15D2-59BA-A2750F6590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E12F724-BBC3-1344-08D1-ABCF72117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8D011C4-BE32-7981-1D05-ABEDDC09C4A7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2574BDA-B6C2-588D-63D9-000EB98DB5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E901C12-F179-64D9-D80A-61EA803A4D5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19D8C5F-7472-D889-7BFD-EBC04366F6A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CE175F24-204D-7B73-367A-B0E0C14DBD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59F34B78-C6B3-636D-94FC-F21045EF70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44137BC-FF79-C09E-8328-98F3A57194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DB9EE74-519C-A2DA-DEAD-4159E6B56B7F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508A96D-4466-0635-4854-3A807181BE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543E1AF-8F75-E5C9-85D8-F424F2A6A2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580D618-2913-09A3-3FE4-1A7FB2B38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5B63C1A-F114-F47A-9D8B-5F1A9E5FEE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4CE4F9A-8042-CCCF-93A3-332DF0975C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F064076-298D-F705-5F7C-9DB6CB7DABF1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D87CB3-29ED-BF64-B2B9-30FD2D655A00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C68A353-9B54-8CEB-6944-108EC3A45991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A6DCA71-8951-9732-1E0D-8F6805C577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73F92C4-06B4-3495-C584-9CD06B8F02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C1ACAAD-6106-DAAB-1C16-498A75438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54D933D-82CD-5AAF-7D3D-C168ED6D4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6621576-D2CF-2C4E-3AF6-7A03B3E9E46B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7AB8F7D-0D02-2E63-F6B8-ACC3749C13EB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8C83C18-5523-2D87-79A2-86D9F9FACA5C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356CD05E-24A3-5BD2-2595-7F2966109A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DF7CEE-76CA-A42D-DF1C-569253B164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E549A0B-F872-915D-4FD9-97981F5285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61594647-F3E9-D0E0-15D8-FF5A7065C8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6D9A113-EBD5-EB77-543F-55098DCA83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02F52D2-844B-2D1E-98E5-0B62C374D766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14A4AFA-C8EB-5549-FC65-159A1C72F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9A4F193-4D50-935B-D15C-46E0AF2D9085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E83A1D1-EBA3-EA2B-1954-BCC484DFF7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D45F793-AEF1-C4ED-3420-76541280DE84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C26F367-E167-C913-E5E7-A291CEAEAF4B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4C46743-1623-A4B2-24CF-B23F9D7ABE1A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81C2DE4-8B13-18B0-5161-DAC4D9BC16C5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2283543-840F-093A-76A4-43AC80D7A190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78C2C279-5FB7-08CD-98CE-7681F264C492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F03612A-EB3A-963F-7D90-BCAE5E70349F}"/>
              </a:ext>
            </a:extLst>
          </p:cNvPr>
          <p:cNvSpPr txBox="1"/>
          <p:nvPr/>
        </p:nvSpPr>
        <p:spPr>
          <a:xfrm>
            <a:off x="4695465" y="4235084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E4A39C7-DE7F-211E-9EDE-3A5528D02659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06FB57F-E1D5-3576-F97B-DA8DF039BA83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9C86109-CFED-2371-4E44-B9F0F8A7E23E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801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3D05-E6A8-2F9E-540D-F148D7EF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46696-A05D-0552-0BBA-814D17587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DEA57-9E39-CF41-1303-66DBC915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E0F2301-3888-FEAF-7B68-B507D135CAB7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0DC499-7938-F8C2-9D6B-B5A8A38AD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40A85EB-F65F-3B40-F8FA-3459D84EB391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E6055D7-BA6B-95B0-15F4-BBB0E9B4BB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E75BB97-D240-4D9C-D299-8F0930F314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9209421-02CE-C50A-6914-66D0121AE5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FB954B7-0F6F-4793-BEC0-A052D0F742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0F74979-4F21-E002-189E-3386744799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57325AF-A9E8-4FAD-8F3F-1A1AE04F4B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9C8473-4716-FA82-CF2D-37334B29110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765088A-2104-9431-4C73-7AA26D136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FFA5E86-49CE-2CB4-A493-6220BBAE021F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2EF3460-1059-D863-542E-680715AAD0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AA34602-312F-286E-E768-170D85D37F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856DF5C-B605-EF37-4B92-EED3033B1D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60FB08F-C89F-E2FA-F8EE-E191E42895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A9CF9AF-B8AC-F768-498B-61E0EB4EB8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5A046AB5-1081-07AC-F34D-D3A639672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824E41A-E369-4641-0415-85E5D73E933C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F5E183D-7127-61AD-E471-26493782B7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5B7A905-FCE5-16CA-B07F-7FC686AA11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E71DB21-2A3F-6AF0-4352-98DDCB709C8A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69F61469-45BD-E6EB-4214-1758898D104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ABC4FA9-A7F1-63A4-E0AA-F6CCA70D89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2A28F9A-2DC6-653A-7757-3319C0BEF1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9EAEE98-8A99-DA97-4286-9AC88BBE552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A6CC0941-BA48-5082-574A-75040155E7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B7B2328-649F-642F-15AA-B94086DF43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2EC4BD7-B71F-CC8F-BFEE-B41CE7F870B0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889BE41-BB0D-CD4D-7A14-F676E3F8E9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7B2C234-D9FB-BB4F-F26D-3B9121E699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E887210-B816-8853-7181-8651029A89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A4B6A42-A16C-4652-68E5-905E150DC4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313297A-C5B1-9200-98D5-A8A34C9395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48F1BF6B-1AA4-5911-CF64-D7B0303D96D6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421C51-8CDC-816E-34A7-30CD7ADCB059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0FD571C-46D4-9430-6C9C-33C0DD5DD693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40D367B-213C-E340-D0F2-92A652F246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3BECF46-DA90-9AE9-0411-52A4B29CDD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5EA9093-4F04-EAA1-3755-A77DEF56F6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E8BE012-CDFA-2643-EECC-4E5246F26B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CA25D6F-ACDE-36BC-3EBD-9FC9851072A8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AA71AFC-0DBA-0A60-2441-7CD7548A8085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C7DB484-9E30-1E21-94EE-E6E9BFB02637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A0E20AA7-0B0C-33C0-4D43-B07D421A93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F4473EA0-587C-075E-6ECB-D74983B017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36F1C15-35B5-B4DB-4D40-3DC765CE16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D264D40B-79F4-6CEB-BA3C-86E31E4D71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36F1359-A398-02D5-7FE8-2E9965CDB2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0534CC0-B7C1-9BE6-8FB8-F9CBC1173ABD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8490E96-30A6-6307-568A-CF33CCE22E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00C6DAF-832D-F877-B8BF-28A19D79BD8C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46772F1-3323-1CDD-CA84-6016783058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3F1BFF6-0CC8-5699-A24A-01B3231E1FA9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90C34C14-B188-2BC4-652A-0AC621C53219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0F6C2B4D-9AAA-D667-2324-48CD25B9BAB4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8A11ED2-D1CD-9C11-A357-B9A7789D30C4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00F4785-A5E5-8EBC-60EB-71E8D0D08FA8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8A13A6CE-EA1C-E1CA-38E6-0F28B8D953AE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D1D73AE5-D54E-C041-0F75-64F20D7B75CF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E01AE9E0-9AD5-4CF9-6AA7-0F7A9CF13421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A30D7F3-7CF4-7A68-DB67-D4C11E9E23D2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EC3EC37-7624-F820-7054-16EEB15C5FF8}"/>
              </a:ext>
            </a:extLst>
          </p:cNvPr>
          <p:cNvSpPr/>
          <p:nvPr/>
        </p:nvSpPr>
        <p:spPr>
          <a:xfrm>
            <a:off x="7384760" y="1155958"/>
            <a:ext cx="8042636" cy="3392373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336D79-3837-238C-D428-3AABDE7EF9F0}"/>
              </a:ext>
            </a:extLst>
          </p:cNvPr>
          <p:cNvSpPr/>
          <p:nvPr/>
        </p:nvSpPr>
        <p:spPr>
          <a:xfrm rot="254168">
            <a:off x="-3063530" y="1223454"/>
            <a:ext cx="8042636" cy="44099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F5CBE0-8F30-BD86-87B8-CD1416EAB14F}"/>
              </a:ext>
            </a:extLst>
          </p:cNvPr>
          <p:cNvSpPr txBox="1"/>
          <p:nvPr/>
        </p:nvSpPr>
        <p:spPr>
          <a:xfrm>
            <a:off x="4695465" y="4235084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</p:spTree>
    <p:extLst>
      <p:ext uri="{BB962C8B-B14F-4D97-AF65-F5344CB8AC3E}">
        <p14:creationId xmlns:p14="http://schemas.microsoft.com/office/powerpoint/2010/main" val="3937656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20B5-35A6-5933-B35B-B7C5BEA6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CBBC-3F04-2D25-03EE-E459908BB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9C8559-5853-A1C4-D062-7D3F6BD5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D9ED6-962D-C5A0-EDC6-B3F4A82F0B16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855D21-9A4A-3981-FFCA-02A95F01833B}"/>
              </a:ext>
            </a:extLst>
          </p:cNvPr>
          <p:cNvGrpSpPr/>
          <p:nvPr/>
        </p:nvGrpSpPr>
        <p:grpSpPr>
          <a:xfrm>
            <a:off x="1880532" y="2294455"/>
            <a:ext cx="8430936" cy="2543521"/>
            <a:chOff x="1558586" y="2294455"/>
            <a:chExt cx="8430936" cy="254352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2769764-AD7A-743D-EA59-0226CD1E1C62}"/>
                </a:ext>
              </a:extLst>
            </p:cNvPr>
            <p:cNvGrpSpPr/>
            <p:nvPr/>
          </p:nvGrpSpPr>
          <p:grpSpPr>
            <a:xfrm>
              <a:off x="4390462" y="2316154"/>
              <a:ext cx="2719014" cy="2521822"/>
              <a:chOff x="4115174" y="2360122"/>
              <a:chExt cx="2719014" cy="2521822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5488E80D-BAB5-6DBB-F7BC-8A2D020F97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4681" y="2360122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F5991-87F5-B31E-09F8-CC44A10EBE5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27190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543BCCA-B5BE-3973-64F8-F7C7014185E0}"/>
                </a:ext>
              </a:extLst>
            </p:cNvPr>
            <p:cNvGrpSpPr/>
            <p:nvPr/>
          </p:nvGrpSpPr>
          <p:grpSpPr>
            <a:xfrm>
              <a:off x="7848833" y="2347636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C1960A0E-F775-6E61-DC83-242234C18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95D0C72-C549-8D72-CFF4-293C768D1D5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1F7CF444-CBF1-B2E5-DC86-805E9F5681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00E0D911-0443-C886-EAE5-7C3D653A55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59D37EB-4309-A088-BA72-664A3C66931F}"/>
                </a:ext>
              </a:extLst>
            </p:cNvPr>
            <p:cNvGrpSpPr/>
            <p:nvPr/>
          </p:nvGrpSpPr>
          <p:grpSpPr>
            <a:xfrm>
              <a:off x="1558586" y="2294455"/>
              <a:ext cx="2355260" cy="2519771"/>
              <a:chOff x="1029505" y="2338423"/>
              <a:chExt cx="2355260" cy="2519771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FD11AA57-9D3E-1F55-552F-ED0BF4CEEF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7135" y="2338423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3CE4C7-0860-AEA9-3EB6-7F1FF3BACFDA}"/>
                  </a:ext>
                </a:extLst>
              </p:cNvPr>
              <p:cNvSpPr txBox="1"/>
              <p:nvPr/>
            </p:nvSpPr>
            <p:spPr>
              <a:xfrm>
                <a:off x="1029505" y="4334974"/>
                <a:ext cx="2355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I: Theory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0E4C09B-9B3D-4199-9699-42C4812AEC0F}"/>
                </a:ext>
              </a:extLst>
            </p:cNvPr>
            <p:cNvSpPr txBox="1"/>
            <p:nvPr/>
          </p:nvSpPr>
          <p:spPr>
            <a:xfrm>
              <a:off x="7430808" y="4314756"/>
              <a:ext cx="25587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III: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048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C8957-A286-A138-0054-1EC98E7E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EFC9-522B-32BA-98CA-86105734B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A4237E-B2B1-A344-3E99-A8A5476C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A48ED-39ED-44A9-73E8-356BAE6AAC5C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499877-9770-4C3D-9785-7D4B84C0C0A3}"/>
              </a:ext>
            </a:extLst>
          </p:cNvPr>
          <p:cNvGrpSpPr/>
          <p:nvPr/>
        </p:nvGrpSpPr>
        <p:grpSpPr>
          <a:xfrm>
            <a:off x="1880532" y="2294455"/>
            <a:ext cx="2355260" cy="2519771"/>
            <a:chOff x="1029505" y="2338423"/>
            <a:chExt cx="2355260" cy="251977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3DC722B-DB6B-AB71-2454-F55414594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7135" y="2338423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3C2C79-4B03-3F5C-E61E-B3920669D71F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825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7575C-0E6D-9BBE-665E-5B68A5F5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072A-E0AF-1520-7440-3A00D83D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Networks?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51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D538-2544-622B-2DD9-764D1002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4363EDE-343E-78B2-669F-C6510C0DE76B}"/>
              </a:ext>
            </a:extLst>
          </p:cNvPr>
          <p:cNvSpPr txBox="1"/>
          <p:nvPr/>
        </p:nvSpPr>
        <p:spPr>
          <a:xfrm>
            <a:off x="1118090" y="1606916"/>
            <a:ext cx="8670679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Assess network variance or invariance   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300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network structures (response </a:t>
            </a:r>
            <a:r>
              <a:rPr lang="en-GB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) differ between groups?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Which relations are stable (invariant) across groups?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Where do key differences emerge?  </a:t>
            </a: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This is a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psychometric approach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, very similar to questions about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differential item functioning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or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measurement invariance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in IRT/SEM frameworks.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 </a:t>
            </a:r>
            <a:endParaRPr lang="en-US" b="1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F954C-2532-6FD3-06B3-6BEBC3EE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Networks?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12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BABD-2562-A447-F0E7-BD097089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4E41923-EF93-9DA0-670F-3D4FF62F16FA}"/>
              </a:ext>
            </a:extLst>
          </p:cNvPr>
          <p:cNvSpPr txBox="1"/>
          <p:nvPr/>
        </p:nvSpPr>
        <p:spPr>
          <a:xfrm>
            <a:off x="1118090" y="1606916"/>
            <a:ext cx="8670679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Assess network variance or invariance   </a:t>
            </a: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Reproducibility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300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network results reproduce in different samples?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network results generalize to different populations?  </a:t>
            </a: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A central motivation for developing Bayesian approaches to group comparisons is the concern about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reproducibility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in network psychometrics.  </a:t>
            </a: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This is a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methodological approach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, aiming to distinguish signal from noise.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E2B27-7A48-61EC-F5C0-156E886E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Networks?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82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D1D8-DA6F-93B2-8735-1EC0B732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8001CD-E058-2F63-CC84-28F63DC79D32}"/>
              </a:ext>
            </a:extLst>
          </p:cNvPr>
          <p:cNvSpPr txBox="1"/>
          <p:nvPr/>
        </p:nvSpPr>
        <p:spPr>
          <a:xfrm>
            <a:off x="1118090" y="1606916"/>
            <a:ext cx="8670679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Assess network variance or invariance   </a:t>
            </a: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Reproducibility</a:t>
            </a: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 theoretical predictions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300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empirical networks match theoretical expectations?</a:t>
            </a:r>
          </a:p>
          <a:p>
            <a:pPr lvl="2"/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For example, expected subgroup differences (e.g., involvement)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Network models are not only descriptive; they can also be used to formalize and test theories. This offers a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substantive perspective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to network comparison.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CFDDC-5564-B8BD-88B5-22A5DAA06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Networks?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19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CBD73-3219-962E-C5A8-51226A7A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8B9B2E-AADA-4FC7-B1E5-5A8AE4D6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A540F26-9720-9A74-D313-D8FE2BF9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Boredom Proneness Network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DC5A5B-94E7-5455-1D8D-3C4D9AC68704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Nodes are short boredom proneness scale items (7-point Likert-scale).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05C427-BC69-6117-0BA8-E9B29F752FE2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F9D79-851D-5C49-E4FF-BDDF2FEA8CA0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549F7C1-CCEF-9C65-050B-A01C449B8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5988485"/>
            <a:ext cx="14986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90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889D-C936-A32C-A912-5B6F5530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B39E4F-FD6F-4920-C635-A1C677D6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C6EBA6A-CFD5-4FFC-3E89-840A22D8D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Boredom Proneness Network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C260C9-D76F-8A86-F38D-CCC131263D68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short boredom proneness scale items (7-point Likert-scale).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E8F574-160B-0EE7-AD89-FC0355D7ACFA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93C1D-0E31-33CE-685B-4D162710BD1C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4A4DB44-6C6B-47E9-7F02-A39F9EE5D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5988485"/>
            <a:ext cx="14986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4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2F57-B003-2D21-07C2-C720608E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944B5C-84A5-4A0E-9FEB-923443194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BF15CED-343E-EEF2-7DDA-6FCCD0F6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Boredom Proneness Network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8795F6-ED0E-3DF5-C06D-C74C6DE3D8C4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short boredom proneness scale items (7-point Likert-scale).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02D56C-ED28-C7BB-D02E-6368FA6C277F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4FCEA1-C09C-192E-0D48-3F7012AD45C6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ABC01D8C-E8CF-9281-1B8A-705C8A4A1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5988485"/>
            <a:ext cx="14986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17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51582-CBF9-F6E5-00D6-A84ADA9E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1A75B2-C4A0-4C5E-ABD6-2CDED04F7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2D79FB7-0753-DBC1-BB93-8FBAA3320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Boredom Proneness Network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E4718-2ECF-D970-D28F-8512C19D89AD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short boredom proneness scale items (7-point Likert-scale).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AC8D8F-98B4-CED4-6C0D-B8055EFFE900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F3C97-848E-90FA-992F-E2C84357747C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0A34592-6B44-EE98-35AD-72A206C42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5988485"/>
            <a:ext cx="14986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6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3C39-397E-8228-1E8C-23B8F9E8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9991E-86C0-453C-C1AF-43D9A8D16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8FE4C5-577A-0740-2B83-B69F8473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BE13D88-84B7-5AA5-74AD-35F4C9B86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AAF06-5DDB-3D46-DCAC-DD2729F30983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030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2E3A-932C-7AE0-3D0C-4E911980C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27ECF6F-254F-3333-8FB6-757CC9FB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70515-BBAE-0478-61C1-54CC9F835D2B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974C8-15EB-CA63-F69B-6B0863EB8FE3}"/>
              </a:ext>
            </a:extLst>
          </p:cNvPr>
          <p:cNvSpPr txBox="1"/>
          <p:nvPr/>
        </p:nvSpPr>
        <p:spPr>
          <a:xfrm>
            <a:off x="6271359" y="1949986"/>
            <a:ext cx="556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binary or ordinal variables.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A72290-7E32-AF5C-1481-6A1BDB638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5BE698-9577-E418-6535-2ED548F853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32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74B4-8C61-F20B-354A-51F639DC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3A7939-69F7-AE5B-9E8C-A6EFC41B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F6AE81-3195-2987-442A-303950C30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5CC2788-0F88-9304-D058-E05874D7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CE148-3C77-4CE3-F419-F2CAE847E9B8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5CD3A6-5102-E8F7-E4B6-9FBA3E6074F3}"/>
              </a:ext>
            </a:extLst>
          </p:cNvPr>
          <p:cNvCxnSpPr>
            <a:cxnSpLocks/>
          </p:cNvCxnSpPr>
          <p:nvPr/>
        </p:nvCxnSpPr>
        <p:spPr>
          <a:xfrm flipH="1">
            <a:off x="4726745" y="1448958"/>
            <a:ext cx="782614" cy="0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D96183-15D9-ED1F-90D1-E59D1292FCFD}"/>
              </a:ext>
            </a:extLst>
          </p:cNvPr>
          <p:cNvCxnSpPr>
            <a:cxnSpLocks/>
          </p:cNvCxnSpPr>
          <p:nvPr/>
        </p:nvCxnSpPr>
        <p:spPr>
          <a:xfrm flipH="1">
            <a:off x="5425329" y="3579941"/>
            <a:ext cx="788339" cy="0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ED9883-675F-4CD3-46BE-8FEE9659E7C3}"/>
              </a:ext>
            </a:extLst>
          </p:cNvPr>
          <p:cNvSpPr/>
          <p:nvPr/>
        </p:nvSpPr>
        <p:spPr>
          <a:xfrm>
            <a:off x="8516471" y="5061154"/>
            <a:ext cx="572664" cy="694735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00CA30-33F3-03E8-C08B-A305155C6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533" y="1879663"/>
            <a:ext cx="3337450" cy="2503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92AF84-807B-F214-A6DC-E825840FE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768" y="1360307"/>
            <a:ext cx="469900" cy="31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70B76-D950-E75F-2824-8EFE73145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127" y="3417039"/>
            <a:ext cx="4953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23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06CF-E652-7E44-F692-19AD1940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6A8363-CE6C-B852-34DC-D3CA0E5BB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58A8E3-8287-94F7-5EFB-5699B98CF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168DE2-F5BE-5D28-EDDF-E21829AD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64819-DB96-EFAC-2A4A-74B174A04C57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88B0CF7-6236-C940-F552-344A52835921}"/>
              </a:ext>
            </a:extLst>
          </p:cNvPr>
          <p:cNvCxnSpPr>
            <a:cxnSpLocks/>
          </p:cNvCxnSpPr>
          <p:nvPr/>
        </p:nvCxnSpPr>
        <p:spPr>
          <a:xfrm flipH="1">
            <a:off x="4737172" y="2140583"/>
            <a:ext cx="675477" cy="264068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2F537C8-4EEB-10F1-2CCC-CB552B100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416" y="1927328"/>
            <a:ext cx="520700" cy="3429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EF0040B-4736-657F-D450-9B965E7D0415}"/>
              </a:ext>
            </a:extLst>
          </p:cNvPr>
          <p:cNvGrpSpPr/>
          <p:nvPr/>
        </p:nvGrpSpPr>
        <p:grpSpPr>
          <a:xfrm>
            <a:off x="7709016" y="1873698"/>
            <a:ext cx="2696066" cy="2271860"/>
            <a:chOff x="2592371" y="4468305"/>
            <a:chExt cx="2696066" cy="2271860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5960F22-0977-6BAC-CF7E-F97A80981140}"/>
                </a:ext>
              </a:extLst>
            </p:cNvPr>
            <p:cNvSpPr/>
            <p:nvPr/>
          </p:nvSpPr>
          <p:spPr>
            <a:xfrm>
              <a:off x="2592371" y="4468305"/>
              <a:ext cx="2696066" cy="227186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3F1A81-3D05-BF00-EF97-C3214520C5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8E8FFE9-F1AB-E8A3-5E60-54ED014A0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E9B4EC2-BFC7-FF2D-D603-B81E54DC86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D4F1577-7B2D-3CB5-D07C-A3E29E799B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CF1A0-F2B4-4902-67F5-C44A937CDBA2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7AD4426-B18F-22A9-4E74-BD1F41230E05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5EA5158-E19D-3E45-8D16-7584FB3729B7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36D20A5-613F-92ED-16FF-2678DD4EF7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8557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71F691A-D6BE-44DD-7B7A-3B18CAAD24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372B3BE-955F-237F-E39B-220DB5992E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8F4E43D-D258-531B-4468-622BF84ED913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B4ED9C4-3DB3-EE1C-E7F1-01FC0034D256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023ADC5-AD1C-59BB-C81B-A639B6068235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860C9AF-2A56-EAD3-749D-49839014DD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C9F8E66-6189-4F99-DB06-C8097AC5DA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C28268F-5AD5-3083-3286-BD1B192FC6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151E743-A324-D96C-098F-11B76C573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CE8F426-0703-9115-1D45-CAC50DF36571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E16C1A9-935B-9CF9-5FB7-A548D55C8000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DFBD2DA-CFB7-E1B8-4E3D-0DF7BC956BD0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657AFD1-8F49-CA4D-B2C0-4945A5DC636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72847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66F9CF3-4104-A036-8063-274844EC55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22DCAB8-EC47-707A-1008-5D5218B645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3880C0C-E20E-5FC4-DD6B-4C6C6794C0CD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368CBD6-695E-159F-F078-32A5D5DB588B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550A994-1B5E-0945-0D8A-25805A900C01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5883D41-5730-A616-25DF-AA92072A262E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2217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91E87-18C9-FE91-54AB-ACD8AB6F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A584C36-CE19-DB57-1943-405D2E6B0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32530" r="12110" b="32443"/>
          <a:stretch>
            <a:fillRect/>
          </a:stretch>
        </p:blipFill>
        <p:spPr>
          <a:xfrm>
            <a:off x="5105376" y="1893040"/>
            <a:ext cx="6831189" cy="10399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4DCF3D-16F5-3532-43DD-F2D7D064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AA3CA5-D07B-1BD0-CF1A-501B5E1C8D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63A2794-ADD9-2B93-001F-2A5520A37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5E668E-B478-2242-76CE-F19737E116E5}"/>
              </a:ext>
            </a:extLst>
          </p:cNvPr>
          <p:cNvCxnSpPr>
            <a:cxnSpLocks/>
          </p:cNvCxnSpPr>
          <p:nvPr/>
        </p:nvCxnSpPr>
        <p:spPr>
          <a:xfrm flipH="1" flipV="1">
            <a:off x="8232412" y="2533294"/>
            <a:ext cx="2626088" cy="2667356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8980BCB-A81E-79A7-9D52-EAE2D0CFAD29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E9D8BE7-A3AC-8AA7-1DDC-EFBEB65A17D6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28DEFF-9900-B810-5AED-9EC707DDB3CB}"/>
              </a:ext>
            </a:extLst>
          </p:cNvPr>
          <p:cNvCxnSpPr>
            <a:cxnSpLocks/>
          </p:cNvCxnSpPr>
          <p:nvPr/>
        </p:nvCxnSpPr>
        <p:spPr>
          <a:xfrm flipV="1">
            <a:off x="4668370" y="2516845"/>
            <a:ext cx="2993963" cy="1775755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897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6D3B-A766-3F3A-6335-2FCB87F2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E02DDC-0ABA-CCB5-7482-E30BC7D8E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87268C-218B-2043-5BE7-EB1B8C7707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62F0A35-F2BB-6A5A-67B2-719E683AE966}"/>
              </a:ext>
            </a:extLst>
          </p:cNvPr>
          <p:cNvGrpSpPr/>
          <p:nvPr/>
        </p:nvGrpSpPr>
        <p:grpSpPr>
          <a:xfrm>
            <a:off x="7709016" y="1873698"/>
            <a:ext cx="2696066" cy="2271860"/>
            <a:chOff x="2592371" y="4468305"/>
            <a:chExt cx="2696066" cy="227186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2031B0F-6A69-B245-415C-5D95F1F191C8}"/>
                </a:ext>
              </a:extLst>
            </p:cNvPr>
            <p:cNvSpPr/>
            <p:nvPr/>
          </p:nvSpPr>
          <p:spPr>
            <a:xfrm>
              <a:off x="2592371" y="4468305"/>
              <a:ext cx="2696066" cy="227186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8AA6AC3-DAA0-40E5-9A8C-679256E2FC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9DAA823-855D-F18D-A87C-8F5D927E0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891CB72-C419-799D-49DA-41236E8CF7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019336E-1A7B-86F0-1474-5278FC73B6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5220F16-E85A-C846-7EF8-61DFA6D18373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ED10842-1F61-D180-AA24-0E9379668488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7662977-3C0D-0FE5-0099-05BE54F80304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E292A0F-2403-9C46-D302-DFD2FB5D39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8557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C9B3B3E-4DD3-D082-B70C-C5CAF396A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B29254C6-0152-7268-4C0B-AFEBCEFE1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FA394E-35EF-3750-1A30-13B115D9453D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9E3C48C-3CAF-9577-69CE-FF5A6B7287A6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E7421EA-E2D2-55CD-FE42-E51A387C6CD6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5FCBC54-E64A-8B05-F6B3-BAB63C3DB0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BC16F0E-4800-C11B-F849-237B1F71F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AED697D-A6EF-3798-3FF5-7FD8988D5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49CB8D5-8A0A-336D-E83B-641738889E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A84BB65-B327-90A3-0372-1ADD923885B2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EB6548-69D0-A2DC-3CFD-486D5AE5B487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4BC898F-E7D4-2193-EB4D-DD246A9A275F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1C60B4E-087A-C89D-75DF-65402A8F16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72847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FF9E786-FF6A-973B-95FE-D0BB8B1FA4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99355-DCF0-0EF0-A20C-BA2B6F5391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DFE962B-7EAF-E9D3-A5C0-1B0925F8CC6C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E1BF696-2F33-502B-0953-74284495C6B2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85B52B9-A157-D620-BE68-82452BF091CC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AD3EB245-C6C3-13E4-92AF-7AA3F47A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984B9E57-0358-980C-EA19-C9FEE45A08AA}"/>
              </a:ext>
            </a:extLst>
          </p:cNvPr>
          <p:cNvSpPr/>
          <p:nvPr/>
        </p:nvSpPr>
        <p:spPr>
          <a:xfrm>
            <a:off x="9033907" y="3545799"/>
            <a:ext cx="1371175" cy="58317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Frame 28">
            <a:extLst>
              <a:ext uri="{FF2B5EF4-FFF2-40B4-BE49-F238E27FC236}">
                <a16:creationId xmlns:a16="http://schemas.microsoft.com/office/drawing/2014/main" id="{957475B2-67A5-A569-EDA7-DAE3043B0137}"/>
              </a:ext>
            </a:extLst>
          </p:cNvPr>
          <p:cNvSpPr/>
          <p:nvPr/>
        </p:nvSpPr>
        <p:spPr>
          <a:xfrm>
            <a:off x="9014730" y="2509561"/>
            <a:ext cx="1371175" cy="58317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305A578F-81C3-4391-3514-70FB93596F9A}"/>
              </a:ext>
            </a:extLst>
          </p:cNvPr>
          <p:cNvSpPr/>
          <p:nvPr/>
        </p:nvSpPr>
        <p:spPr>
          <a:xfrm rot="1941368">
            <a:off x="2356084" y="2525555"/>
            <a:ext cx="3186033" cy="710393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B8493B-EBFA-4F24-EE0A-23207C44C936}"/>
              </a:ext>
            </a:extLst>
          </p:cNvPr>
          <p:cNvSpPr txBox="1"/>
          <p:nvPr/>
        </p:nvSpPr>
        <p:spPr>
          <a:xfrm>
            <a:off x="5134180" y="1212059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Conditional independence?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CC136E-C7D7-116B-B311-C03A696B49C4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C14E2D0-3A2D-975B-67B8-5AB6C6F52269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95964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1E7C-C6C7-7D94-41A0-68541FC6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481D052-78E6-4F55-5F23-A07EB16A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19CDEB-03B9-5895-6065-703D082F0769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241E5-464D-AAF5-AAAC-7C23FDF16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84621A-641E-D46C-2E79-177106E52C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E5A9B258-6D64-9B68-4EE2-30900976D864}"/>
              </a:ext>
            </a:extLst>
          </p:cNvPr>
          <p:cNvSpPr/>
          <p:nvPr/>
        </p:nvSpPr>
        <p:spPr>
          <a:xfrm rot="1941368">
            <a:off x="2356084" y="2525555"/>
            <a:ext cx="3186033" cy="710393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D27F37-C739-4C82-8FAB-FB0DD1CA1F0C}"/>
              </a:ext>
            </a:extLst>
          </p:cNvPr>
          <p:cNvSpPr txBox="1"/>
          <p:nvPr/>
        </p:nvSpPr>
        <p:spPr>
          <a:xfrm>
            <a:off x="5134180" y="1212059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Conditional independence?</a:t>
            </a:r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D632B67-D5A9-F7C1-09C3-135E9D267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32530" r="12110" b="32443"/>
          <a:stretch>
            <a:fillRect/>
          </a:stretch>
        </p:blipFill>
        <p:spPr>
          <a:xfrm>
            <a:off x="5105376" y="1893040"/>
            <a:ext cx="6831189" cy="1039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CEB799-1343-899B-447A-59859C1034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348" r="12362" b="-5196"/>
          <a:stretch>
            <a:fillRect/>
          </a:stretch>
        </p:blipFill>
        <p:spPr>
          <a:xfrm>
            <a:off x="5124969" y="2971078"/>
            <a:ext cx="6811596" cy="22279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BB8BBE-D749-C057-C4CB-69B79E28CFB2}"/>
              </a:ext>
            </a:extLst>
          </p:cNvPr>
          <p:cNvCxnSpPr>
            <a:cxnSpLocks/>
          </p:cNvCxnSpPr>
          <p:nvPr/>
        </p:nvCxnSpPr>
        <p:spPr>
          <a:xfrm flipV="1">
            <a:off x="5484877" y="3193870"/>
            <a:ext cx="5569810" cy="529359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509B41-E901-604E-AB94-9FD8EBDC859F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13823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0413-7F73-D3E5-4CA2-D0FFB7623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76F4-0C53-12BC-D47C-483F74FF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9CD3A-C85E-A06F-F8D9-CA1599A674C9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CF692-CAD4-73C6-3733-B63DD5FB8775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48B3D39-8E63-80F1-2E5C-EB06DD1619E0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FD0DD-A19D-E4BE-1F13-11D2E6C4DCD2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F2A0EB-E1E3-5850-C63F-7441F3014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6B642F-369A-9EF2-5C2C-9B47C1887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50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74B6-AD18-D531-386C-AF3A92F9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7D31-E99C-1706-1FF8-A05C6B86F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64DD0-B5B8-138C-56C7-08541589BD4C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64C066-8B8B-A149-1B32-87B4DBA06EDF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B0ED31-3A24-823D-C915-F6BEF11955D5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BA7B57-3725-EEBF-036B-BE303E97DEBB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C11839-AD93-F9A0-6BAE-923C49168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41350F-D6E9-5E2C-300B-9952570FE180}"/>
              </a:ext>
            </a:extLst>
          </p:cNvPr>
          <p:cNvSpPr txBox="1"/>
          <p:nvPr/>
        </p:nvSpPr>
        <p:spPr>
          <a:xfrm>
            <a:off x="8515350" y="2793928"/>
            <a:ext cx="31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could we assess sample differences?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DDC82-C63E-F3F2-8FE0-B97294189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21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688B-1D86-1D43-D127-EC93B134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46D9-9EE9-40C8-0C29-45DDCC34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35D89-1E57-2000-13C4-9F96630CC46E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A9395-050F-E9C1-A885-054333B293D2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A59B83-3F94-7565-83E8-35BE2E22CC95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01A91-6346-9A69-428A-9573CB1D3426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6A314D-B197-BE28-82BB-43957D9F5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E9EE1A-98B8-3AEB-493B-F2DE4629F453}"/>
              </a:ext>
            </a:extLst>
          </p:cNvPr>
          <p:cNvSpPr txBox="1"/>
          <p:nvPr/>
        </p:nvSpPr>
        <p:spPr>
          <a:xfrm>
            <a:off x="8515350" y="2793928"/>
            <a:ext cx="31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could we assess sample differences?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FA0F0-702C-1609-89E5-38C1F70D41B4}"/>
              </a:ext>
            </a:extLst>
          </p:cNvPr>
          <p:cNvSpPr txBox="1"/>
          <p:nvPr/>
        </p:nvSpPr>
        <p:spPr>
          <a:xfrm>
            <a:off x="4449170" y="1692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90E4BA4D-6A2D-E759-3FFC-86B34A395019}"/>
              </a:ext>
            </a:extLst>
          </p:cNvPr>
          <p:cNvSpPr/>
          <p:nvPr/>
        </p:nvSpPr>
        <p:spPr>
          <a:xfrm rot="5280000">
            <a:off x="4505659" y="3468652"/>
            <a:ext cx="2647897" cy="48696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49215D3-BAD9-F8D0-F1CD-E8C4F884A86A}"/>
              </a:ext>
            </a:extLst>
          </p:cNvPr>
          <p:cNvSpPr>
            <a:spLocks noChangeAspect="1"/>
          </p:cNvSpPr>
          <p:nvPr/>
        </p:nvSpPr>
        <p:spPr>
          <a:xfrm>
            <a:off x="5607420" y="2463072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234D0A-68F1-EB13-F213-640EDC694E5D}"/>
              </a:ext>
            </a:extLst>
          </p:cNvPr>
          <p:cNvSpPr>
            <a:spLocks noChangeAspect="1"/>
          </p:cNvSpPr>
          <p:nvPr/>
        </p:nvSpPr>
        <p:spPr>
          <a:xfrm>
            <a:off x="5671453" y="4567068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C352C0-2288-BDBC-3B93-E833E5C8E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  <p:sp>
        <p:nvSpPr>
          <p:cNvPr id="19" name="Frame 18">
            <a:extLst>
              <a:ext uri="{FF2B5EF4-FFF2-40B4-BE49-F238E27FC236}">
                <a16:creationId xmlns:a16="http://schemas.microsoft.com/office/drawing/2014/main" id="{D330E05B-A59E-8818-D88A-A5A87F92AC57}"/>
              </a:ext>
            </a:extLst>
          </p:cNvPr>
          <p:cNvSpPr/>
          <p:nvPr/>
        </p:nvSpPr>
        <p:spPr>
          <a:xfrm rot="5280000">
            <a:off x="803813" y="3466348"/>
            <a:ext cx="2647897" cy="48696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D05E9C-D8CD-8795-0BD7-BEFA2636F8DB}"/>
              </a:ext>
            </a:extLst>
          </p:cNvPr>
          <p:cNvSpPr>
            <a:spLocks noChangeAspect="1"/>
          </p:cNvSpPr>
          <p:nvPr/>
        </p:nvSpPr>
        <p:spPr>
          <a:xfrm>
            <a:off x="1905574" y="2460768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6BE89D-1FDB-6488-3BFA-014D0D017436}"/>
              </a:ext>
            </a:extLst>
          </p:cNvPr>
          <p:cNvSpPr>
            <a:spLocks noChangeAspect="1"/>
          </p:cNvSpPr>
          <p:nvPr/>
        </p:nvSpPr>
        <p:spPr>
          <a:xfrm>
            <a:off x="1969607" y="4564764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9396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BA9-7418-44A0-428B-D66EE64B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5C5D4-B702-65CA-B625-4F0BC631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B38EFC-F815-14D0-7CBE-36C5C97ED5EE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EBDC2-D2FE-151E-C9D5-641EC8CC2DFE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C353D-3246-23ED-ED76-A2AA04E802CD}"/>
              </a:ext>
            </a:extLst>
          </p:cNvPr>
          <p:cNvSpPr txBox="1"/>
          <p:nvPr/>
        </p:nvSpPr>
        <p:spPr>
          <a:xfrm>
            <a:off x="8515350" y="2793928"/>
            <a:ext cx="31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could we assess sample differences?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FF03E-A9E2-30FF-9150-8DB452419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39" y="1161000"/>
            <a:ext cx="5670000" cy="45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2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1DE5-C24A-CBFF-EBF3-300BDDEA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5728-D644-9580-F038-994E5010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DFE44-8A1A-DF29-9662-BC1774CEA360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BED1C-E14F-5477-3509-63033F0F47BC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7EA400-C154-6AD7-2779-D11A12A8DAA4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4A218-AA54-E135-9785-056B246DD958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D82309-0390-80E2-0CD0-C59650254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5DD6EB-5BE5-42DA-08B3-29BCF4D4A850}"/>
              </a:ext>
            </a:extLst>
          </p:cNvPr>
          <p:cNvSpPr txBox="1"/>
          <p:nvPr/>
        </p:nvSpPr>
        <p:spPr>
          <a:xfrm>
            <a:off x="4449170" y="1692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B3B7564E-2B71-F775-684A-E6FD22E34A9D}"/>
              </a:ext>
            </a:extLst>
          </p:cNvPr>
          <p:cNvSpPr/>
          <p:nvPr/>
        </p:nvSpPr>
        <p:spPr>
          <a:xfrm rot="5280000">
            <a:off x="4505659" y="3468652"/>
            <a:ext cx="2647897" cy="48696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6D92BD-3D27-10B7-5B34-EFC94BAF823C}"/>
              </a:ext>
            </a:extLst>
          </p:cNvPr>
          <p:cNvSpPr>
            <a:spLocks noChangeAspect="1"/>
          </p:cNvSpPr>
          <p:nvPr/>
        </p:nvSpPr>
        <p:spPr>
          <a:xfrm>
            <a:off x="5607420" y="2463072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540D94D-DD61-50E0-0819-A07FCAB99DB2}"/>
              </a:ext>
            </a:extLst>
          </p:cNvPr>
          <p:cNvSpPr>
            <a:spLocks noChangeAspect="1"/>
          </p:cNvSpPr>
          <p:nvPr/>
        </p:nvSpPr>
        <p:spPr>
          <a:xfrm>
            <a:off x="5671453" y="4567068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28D37-23D0-24E8-0171-D553E7F2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722" y="2997984"/>
            <a:ext cx="3835647" cy="8620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EE1ABC-E9D9-3E49-F089-B6835E5DD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  <p:sp>
        <p:nvSpPr>
          <p:cNvPr id="19" name="Frame 18">
            <a:extLst>
              <a:ext uri="{FF2B5EF4-FFF2-40B4-BE49-F238E27FC236}">
                <a16:creationId xmlns:a16="http://schemas.microsoft.com/office/drawing/2014/main" id="{8211C64E-AC29-F1C4-6C26-E61A7ECDC8D5}"/>
              </a:ext>
            </a:extLst>
          </p:cNvPr>
          <p:cNvSpPr/>
          <p:nvPr/>
        </p:nvSpPr>
        <p:spPr>
          <a:xfrm rot="5280000">
            <a:off x="803813" y="3466348"/>
            <a:ext cx="2647897" cy="48696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CB2642-F969-F46D-0627-D173935CBEB9}"/>
              </a:ext>
            </a:extLst>
          </p:cNvPr>
          <p:cNvSpPr>
            <a:spLocks noChangeAspect="1"/>
          </p:cNvSpPr>
          <p:nvPr/>
        </p:nvSpPr>
        <p:spPr>
          <a:xfrm>
            <a:off x="1905574" y="2460768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C416AF-C545-28C5-65DF-38EC38267B48}"/>
              </a:ext>
            </a:extLst>
          </p:cNvPr>
          <p:cNvSpPr>
            <a:spLocks noChangeAspect="1"/>
          </p:cNvSpPr>
          <p:nvPr/>
        </p:nvSpPr>
        <p:spPr>
          <a:xfrm>
            <a:off x="1969607" y="4564764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3338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BFE9F-31BD-08E9-14E6-247A141F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0224-C120-F285-0AF5-428AE5EC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Model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E3EF4-F74A-F5F8-3EEE-B1B0E13DF7F9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9E359-2DBC-0919-0BC5-E18B58DE50BB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0BD8A-5622-104B-2716-48EEAB569FB0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2BA831-1149-55BD-5E07-3486693A2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A3D381-8299-9B08-E1A2-4DADB13C6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C729F5-EC86-FB84-B9F1-C9624AF7DDF7}"/>
              </a:ext>
            </a:extLst>
          </p:cNvPr>
          <p:cNvSpPr txBox="1"/>
          <p:nvPr/>
        </p:nvSpPr>
        <p:spPr>
          <a:xfrm>
            <a:off x="4449170" y="1692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E9C0671-8413-F7C6-86E4-53847C394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121" y="1720800"/>
            <a:ext cx="3420000" cy="342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5F6246-A55C-4FF5-7C9E-E7E7AE181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523" y="5175893"/>
            <a:ext cx="25273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42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0CFA-06F4-320B-703D-BA6A4539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2EB8-6646-9C8D-F77F-723731E4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4813E-5703-CBA7-C62F-C258DE5BCAD8}"/>
              </a:ext>
            </a:extLst>
          </p:cNvPr>
          <p:cNvSpPr txBox="1"/>
          <p:nvPr/>
        </p:nvSpPr>
        <p:spPr>
          <a:xfrm>
            <a:off x="1861279" y="1684674"/>
            <a:ext cx="846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Rather than testing whether an </a:t>
            </a:r>
            <a:r>
              <a:rPr lang="en-US" sz="2400" b="1" dirty="0">
                <a:solidFill>
                  <a:srgbClr val="1F3864"/>
                </a:solidFill>
                <a:latin typeface="Helvetica" pitchFamily="2" charset="0"/>
              </a:rPr>
              <a:t>edge weight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 should be included or excluded (i.e., conditional independence), we now test if an </a:t>
            </a:r>
            <a:r>
              <a:rPr lang="en-US" sz="2400" b="1" dirty="0">
                <a:solidFill>
                  <a:srgbClr val="1F3864"/>
                </a:solidFill>
                <a:latin typeface="Helvetica" pitchFamily="2" charset="0"/>
              </a:rPr>
              <a:t>edge difference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 should be included or excluded (i.e., edge invariance).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0D1805-5B93-15E6-9E18-6FE280D52FA6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557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CBBA-42B1-00FD-0BEB-09576E9D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5B0D-CE6A-3D26-9DF3-53157D40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E3989-247A-0D6F-5AB5-CF02017006F4}"/>
              </a:ext>
            </a:extLst>
          </p:cNvPr>
          <p:cNvSpPr txBox="1"/>
          <p:nvPr/>
        </p:nvSpPr>
        <p:spPr>
          <a:xfrm>
            <a:off x="1861279" y="1684674"/>
            <a:ext cx="846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Rather than testing whether an </a:t>
            </a:r>
            <a:r>
              <a:rPr lang="en-US" sz="2400" b="1" dirty="0">
                <a:solidFill>
                  <a:srgbClr val="1F3864"/>
                </a:solidFill>
                <a:latin typeface="Helvetica" pitchFamily="2" charset="0"/>
              </a:rPr>
              <a:t>edge weight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 should be included or excluded (i.e., conditional independence), we now test if an </a:t>
            </a:r>
            <a:r>
              <a:rPr lang="en-US" sz="2400" b="1" dirty="0">
                <a:solidFill>
                  <a:srgbClr val="1F3864"/>
                </a:solidFill>
                <a:latin typeface="Helvetica" pitchFamily="2" charset="0"/>
              </a:rPr>
              <a:t>edge difference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 should be included or excluded (i.e., edge invariance).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DF23B0-B08C-2E6A-A0F3-A76EA471B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98967"/>
            <a:ext cx="7772400" cy="344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C42702-9207-D759-620C-04EF6B9E2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134956"/>
            <a:ext cx="7772400" cy="356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988CC5-1A9A-6E1F-369F-12C4B8A0E4B9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824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7D5D-62DF-F509-4E3B-125B2A5E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5A99-2F32-B4B7-D392-FE49E320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23C93-2A9B-5F2F-D069-7D4A8826CE68}"/>
              </a:ext>
            </a:extLst>
          </p:cNvPr>
          <p:cNvSpPr txBox="1"/>
          <p:nvPr/>
        </p:nvSpPr>
        <p:spPr>
          <a:xfrm>
            <a:off x="1861279" y="1684674"/>
            <a:ext cx="846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Rather than testing whether an </a:t>
            </a:r>
            <a:r>
              <a:rPr lang="en-US" sz="2400" b="1" dirty="0">
                <a:solidFill>
                  <a:srgbClr val="1F3864"/>
                </a:solidFill>
                <a:latin typeface="Helvetica" pitchFamily="2" charset="0"/>
              </a:rPr>
              <a:t>edge weight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 should be included or excluded (i.e., conditional independence), we now test if an </a:t>
            </a:r>
            <a:r>
              <a:rPr lang="en-US" sz="2400" b="1" dirty="0">
                <a:solidFill>
                  <a:srgbClr val="1F3864"/>
                </a:solidFill>
                <a:latin typeface="Helvetica" pitchFamily="2" charset="0"/>
              </a:rPr>
              <a:t>edge difference</a:t>
            </a:r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 should be included or excluded (i.e., edge invariance).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42C0FA-B25C-0663-DE0A-36FF1E6CC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98967"/>
            <a:ext cx="7772400" cy="344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BC818A-42CD-42CE-7075-0971FE82B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134956"/>
            <a:ext cx="7772400" cy="3563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637FA1-78B9-32C9-DBD5-1D8980A34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5" y="4913907"/>
            <a:ext cx="4690003" cy="10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EA9C05-067D-F8DE-9B5E-0DF013A080DE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309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13E4-5E47-8785-33B7-B45259FD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80EE8-2948-D3FE-273F-50E69C06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A8B0E-93FB-FFE5-A9F7-E733408C3015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72CE5-E27C-31B8-90E6-CE179C7B1A1C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76DE81-716F-B38B-0882-F821670BC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18E9CF-BD58-519C-C7DE-9F138CB50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D6329A-0C09-060B-2F63-446861F48206}"/>
              </a:ext>
            </a:extLst>
          </p:cNvPr>
          <p:cNvSpPr txBox="1"/>
          <p:nvPr/>
        </p:nvSpPr>
        <p:spPr>
          <a:xfrm>
            <a:off x="4449170" y="1692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588887F-AF16-8DFD-B95D-5F8315111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642" y="1720800"/>
            <a:ext cx="3420000" cy="3420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64FB249-1BC0-F8CB-610A-65E552190B03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240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6AB44-4137-3610-9262-C18B181E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93D3-C68E-28BB-E951-B52D282C4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Classic vs Bayesian Network Comparison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EB31E-639C-0E31-D859-8933974BAB1F}"/>
              </a:ext>
            </a:extLst>
          </p:cNvPr>
          <p:cNvSpPr txBox="1"/>
          <p:nvPr/>
        </p:nvSpPr>
        <p:spPr>
          <a:xfrm>
            <a:off x="318976" y="1190471"/>
            <a:ext cx="5691964" cy="526297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Classic Approaches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Network Comparison Test (NCT)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Permutation-based test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Returns a </a:t>
            </a: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-value for rejecting equality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Fused Graphical Lasso (FGL)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Jointly estimates networks with penalization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Encourages similarity across groups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No inferential evidence for difference or invariance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Limitations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Asymmetry of evidence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Can reject equality, but not support it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Multiplicity problems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Edge-wise testing inflates false positives or requires harsh corrections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Visual fallacy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Missing edges are often interpreted as “no difference”</a:t>
            </a:r>
            <a:endParaRPr lang="en-US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033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DE60-6383-A703-4751-A825E23B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DA38-9F75-2DF4-7DE4-BD7BEFC5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Classic vs Bayesian Network Comparison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5DB54-BB78-A68C-6D0E-E7427014E197}"/>
              </a:ext>
            </a:extLst>
          </p:cNvPr>
          <p:cNvSpPr txBox="1"/>
          <p:nvPr/>
        </p:nvSpPr>
        <p:spPr>
          <a:xfrm>
            <a:off x="318976" y="1190471"/>
            <a:ext cx="5691964" cy="526297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Classic Approaches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Network Comparison Test (NCT)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Permutation-based test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Returns a </a:t>
            </a: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-value for rejecting equality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Fused Graphical Lasso (FGL)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Jointly estimates networks with penalization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Encourages similarity across groups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No inferential evidence for difference or invariance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Limitations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Asymmetry of evidence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Can reject equality, but not support it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Multiplicity problems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Edge-wise testing inflates false positives or requires harsh corrections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Visual fallacy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Missing edges are often interpreted as “no difference”</a:t>
            </a:r>
            <a:endParaRPr lang="en-US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3DC6B-9130-B1C8-3E02-6E217D422178}"/>
              </a:ext>
            </a:extLst>
          </p:cNvPr>
          <p:cNvSpPr txBox="1"/>
          <p:nvPr/>
        </p:nvSpPr>
        <p:spPr>
          <a:xfrm>
            <a:off x="6329916" y="1190471"/>
            <a:ext cx="5691964" cy="52629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1F3864"/>
                </a:solidFill>
                <a:latin typeface="Helvetica" pitchFamily="2" charset="0"/>
              </a:rPr>
              <a:t>Bayesian Approaches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sz="2400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5E54072-BF5F-2FB4-FE86-B6AE861B8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603" y="1760263"/>
            <a:ext cx="1592590" cy="151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0641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203A-E9D1-E906-E121-25D0DF341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5222-F293-CE37-1047-413BACB4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Classic vs Bayesian Network Comparison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36CE8-B8DF-5820-0DD4-5469B99F2C65}"/>
              </a:ext>
            </a:extLst>
          </p:cNvPr>
          <p:cNvSpPr txBox="1"/>
          <p:nvPr/>
        </p:nvSpPr>
        <p:spPr>
          <a:xfrm>
            <a:off x="318976" y="1190471"/>
            <a:ext cx="5691964" cy="526297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Classic Approaches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Network Comparison Test (NCT)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Permutation-based test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Returns a </a:t>
            </a: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-value for rejecting equality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Fused Graphical Lasso (FGL)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Jointly estimates networks with penalization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Encourages similarity across groups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No inferential evidence for difference or invariance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Limitations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Asymmetry of evidence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Can reject equality, but not support it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Multiplicity problems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Edge-wise testing inflates false positives or requires harsh corrections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Visual fallacy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Missing edges are often interpreted as “no difference”</a:t>
            </a:r>
            <a:endParaRPr lang="en-US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3607-C25A-065E-A23F-89FAE4F305B2}"/>
              </a:ext>
            </a:extLst>
          </p:cNvPr>
          <p:cNvSpPr txBox="1"/>
          <p:nvPr/>
        </p:nvSpPr>
        <p:spPr>
          <a:xfrm>
            <a:off x="6329916" y="1190471"/>
            <a:ext cx="5691964" cy="52629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1F3864"/>
                </a:solidFill>
                <a:latin typeface="Helvetica" pitchFamily="2" charset="0"/>
              </a:rPr>
              <a:t>Bayesian Approaches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algn="ctr"/>
            <a:r>
              <a:rPr lang="en-GB" sz="2400" b="1" dirty="0">
                <a:solidFill>
                  <a:srgbClr val="1F3864"/>
                </a:solidFill>
                <a:latin typeface="Helvetica" pitchFamily="2" charset="0"/>
              </a:rPr>
              <a:t>Advantages</a:t>
            </a: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Bayes factors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190500"/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Quantify evidence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for differences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and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for invariance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Model averaging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177800"/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Can automatically correct for multiplicity</a:t>
            </a: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Posterior distributions and evidence plots</a:t>
            </a:r>
          </a:p>
          <a:p>
            <a:pPr marL="215900"/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Make uncertainty explicit</a:t>
            </a: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6D977ED-503C-E76B-1C54-F83BB264B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603" y="1760263"/>
            <a:ext cx="1592590" cy="151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350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3E3E7-332E-E334-2732-24D540483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5921-5A51-E020-87AC-2EFA5B8F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Simulation Evidence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AUC comparison of methods">
            <a:extLst>
              <a:ext uri="{FF2B5EF4-FFF2-40B4-BE49-F238E27FC236}">
                <a16:creationId xmlns:a16="http://schemas.microsoft.com/office/drawing/2014/main" id="{B223B635-071E-1C31-FF6C-D52ABF9B7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05" y="922945"/>
            <a:ext cx="5894250" cy="52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8F2374-1035-D817-7091-8A19E46E97C6}"/>
              </a:ext>
            </a:extLst>
          </p:cNvPr>
          <p:cNvSpPr txBox="1"/>
          <p:nvPr/>
        </p:nvSpPr>
        <p:spPr>
          <a:xfrm>
            <a:off x="6498982" y="1749095"/>
            <a:ext cx="577831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Area under the ROC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Threshold-free summary of detection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0.5 = chance; higher = better</a:t>
            </a: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Design: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Variables: 5, 10, 20</a:t>
            </a: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Edge differences: 5–15%</a:t>
            </a: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Sample size: 150–1200 per group</a:t>
            </a: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Results: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Bayesian MRF methods perform best overall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Strong gains in small samples and low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NCT competitive with large samples &amp; few variables</a:t>
            </a:r>
          </a:p>
          <a:p>
            <a:endParaRPr lang="en-US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23FA5-4EE8-A263-1170-2AECC4151730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64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D800-2D1F-EFFF-0B10-76513F08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E829-7F1F-F5FA-674F-B845B01DC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8DCCAE-166C-9758-2694-6E3B2D43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62E17C-FF9D-10E5-794E-F0DAE6B093C4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9F9613-53F2-2491-145E-ACE34E560259}"/>
              </a:ext>
            </a:extLst>
          </p:cNvPr>
          <p:cNvGrpSpPr/>
          <p:nvPr/>
        </p:nvGrpSpPr>
        <p:grpSpPr>
          <a:xfrm>
            <a:off x="1880532" y="2294455"/>
            <a:ext cx="8430936" cy="2543521"/>
            <a:chOff x="1558586" y="2294455"/>
            <a:chExt cx="8430936" cy="254352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98BEF33-B393-8D8C-7C1F-2A35E1F4CCAB}"/>
                </a:ext>
              </a:extLst>
            </p:cNvPr>
            <p:cNvGrpSpPr/>
            <p:nvPr/>
          </p:nvGrpSpPr>
          <p:grpSpPr>
            <a:xfrm>
              <a:off x="4390462" y="2316154"/>
              <a:ext cx="2719014" cy="2521822"/>
              <a:chOff x="4115174" y="2360122"/>
              <a:chExt cx="2719014" cy="2521822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2A457E47-CABF-6ED8-4D09-B2C975613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4681" y="2360122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26595F-AC5F-450D-7712-3EB5F6CD79AF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27190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DA8A6F-5066-0636-13A3-CF0395CDE299}"/>
                </a:ext>
              </a:extLst>
            </p:cNvPr>
            <p:cNvGrpSpPr/>
            <p:nvPr/>
          </p:nvGrpSpPr>
          <p:grpSpPr>
            <a:xfrm>
              <a:off x="7848833" y="2347636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BB7E0109-45A3-42C9-208E-7C0131258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D21E7CE-17E2-32FA-D0EB-E12D79D31AD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CBF3153A-7E6A-DC25-F571-DCED24C880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420490DE-E18A-252D-6FA9-5674EDF407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CF1D848-D8A1-1B60-DDAA-3872CA62793F}"/>
                </a:ext>
              </a:extLst>
            </p:cNvPr>
            <p:cNvGrpSpPr/>
            <p:nvPr/>
          </p:nvGrpSpPr>
          <p:grpSpPr>
            <a:xfrm>
              <a:off x="1558586" y="2294455"/>
              <a:ext cx="2355260" cy="2519771"/>
              <a:chOff x="1029505" y="2338423"/>
              <a:chExt cx="2355260" cy="2519771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AD629ACB-5DD3-4EA6-7DF5-64060F2957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7135" y="2338423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41858A-D585-1D48-DFEA-B3FD5C9AA407}"/>
                  </a:ext>
                </a:extLst>
              </p:cNvPr>
              <p:cNvSpPr txBox="1"/>
              <p:nvPr/>
            </p:nvSpPr>
            <p:spPr>
              <a:xfrm>
                <a:off x="1029505" y="4334974"/>
                <a:ext cx="2355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I: Theory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374DEF-050D-4284-0AAF-FAF91C464E9E}"/>
                </a:ext>
              </a:extLst>
            </p:cNvPr>
            <p:cNvSpPr txBox="1"/>
            <p:nvPr/>
          </p:nvSpPr>
          <p:spPr>
            <a:xfrm>
              <a:off x="7430808" y="4314756"/>
              <a:ext cx="25587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III: Project</a:t>
              </a:r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7B9989-AF7B-2B43-2B26-E5B15FCBED07}"/>
              </a:ext>
            </a:extLst>
          </p:cNvPr>
          <p:cNvSpPr/>
          <p:nvPr/>
        </p:nvSpPr>
        <p:spPr>
          <a:xfrm>
            <a:off x="625989" y="1313828"/>
            <a:ext cx="4001984" cy="4227615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0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153FE13-688F-2D4F-9C37-58D3D807EFA8}">
  <we:reference id="f1abd87f-a3ba-42fb-91d5-100000000000" version="1.0.0.7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5855</TotalTime>
  <Words>1765</Words>
  <Application>Microsoft Macintosh PowerPoint</Application>
  <PresentationFormat>Widescreen</PresentationFormat>
  <Paragraphs>261</Paragraphs>
  <Slides>36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Courier New</vt:lpstr>
      <vt:lpstr>Helvetica</vt:lpstr>
      <vt:lpstr>Proxima Nova</vt:lpstr>
      <vt:lpstr>Office Theme</vt:lpstr>
      <vt:lpstr>Bayesian Graphical Modeling </vt:lpstr>
      <vt:lpstr>Setup Today</vt:lpstr>
      <vt:lpstr>Setup Today</vt:lpstr>
      <vt:lpstr>Setup Today</vt:lpstr>
      <vt:lpstr>Session setup</vt:lpstr>
      <vt:lpstr>Session setup</vt:lpstr>
      <vt:lpstr>Why Compare Networks?</vt:lpstr>
      <vt:lpstr>Why Compare Networks?</vt:lpstr>
      <vt:lpstr>Why Compare Networks?</vt:lpstr>
      <vt:lpstr>Why Compare Networks?</vt:lpstr>
      <vt:lpstr>Boredom Proneness Network</vt:lpstr>
      <vt:lpstr>Boredom Proneness Network</vt:lpstr>
      <vt:lpstr>Boredom Proneness Network</vt:lpstr>
      <vt:lpstr>Boredom Proneness Network</vt:lpstr>
      <vt:lpstr>The Ordinal Markov Random Field</vt:lpstr>
      <vt:lpstr>The Ordinal Markov Random Field</vt:lpstr>
      <vt:lpstr>The Ordinal Markov Random Field</vt:lpstr>
      <vt:lpstr>The Ordinal Markov Random Field</vt:lpstr>
      <vt:lpstr>The Ordinal Markov Random Field</vt:lpstr>
      <vt:lpstr>The Ordinal Markov Random Field</vt:lpstr>
      <vt:lpstr>The Ordinal Markov Random Field</vt:lpstr>
      <vt:lpstr>French and English-Speaking Samples</vt:lpstr>
      <vt:lpstr>French and English-Speaking Samples</vt:lpstr>
      <vt:lpstr>French and English-Speaking Samples</vt:lpstr>
      <vt:lpstr>French and English-Speaking Samples</vt:lpstr>
      <vt:lpstr>French and English-Speaking Samples</vt:lpstr>
      <vt:lpstr>Model the Difference in Edge Weight</vt:lpstr>
      <vt:lpstr>Test the Difference in Edge Weight</vt:lpstr>
      <vt:lpstr>Test the Difference in Edge Weight</vt:lpstr>
      <vt:lpstr>Test the Difference in Edge Weight</vt:lpstr>
      <vt:lpstr>Test the Difference in Edge Weight</vt:lpstr>
      <vt:lpstr>Classic vs Bayesian Network Comparison</vt:lpstr>
      <vt:lpstr>Classic vs Bayesian Network Comparison</vt:lpstr>
      <vt:lpstr>Classic vs Bayesian Network Comparison</vt:lpstr>
      <vt:lpstr>Simulation Evidence</vt:lpstr>
      <vt:lpstr>Session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Network Psychometrics: A fresh approach to analyze psychometric networks</dc:title>
  <dc:creator>Maarten Marsman</dc:creator>
  <cp:lastModifiedBy>Maarten Marsman</cp:lastModifiedBy>
  <cp:revision>85</cp:revision>
  <cp:lastPrinted>2021-10-01T12:31:52Z</cp:lastPrinted>
  <dcterms:created xsi:type="dcterms:W3CDTF">2021-09-06T10:23:49Z</dcterms:created>
  <dcterms:modified xsi:type="dcterms:W3CDTF">2026-01-27T15:48:38Z</dcterms:modified>
</cp:coreProperties>
</file>